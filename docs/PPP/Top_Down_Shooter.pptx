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0" r:id="rId2"/>
    <p:sldId id="261" r:id="rId3"/>
    <p:sldId id="262" r:id="rId4"/>
    <p:sldId id="275" r:id="rId5"/>
    <p:sldId id="270" r:id="rId6"/>
    <p:sldId id="274" r:id="rId7"/>
    <p:sldId id="269" r:id="rId8"/>
    <p:sldId id="271" r:id="rId9"/>
    <p:sldId id="272" r:id="rId10"/>
    <p:sldId id="263" r:id="rId11"/>
    <p:sldId id="265" r:id="rId12"/>
    <p:sldId id="266" r:id="rId13"/>
    <p:sldId id="273" r:id="rId14"/>
    <p:sldId id="267" r:id="rId15"/>
    <p:sldId id="268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400C"/>
    <a:srgbClr val="C36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500" y="-13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6BD88C-470E-47D2-96C4-54CA2983C41B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19F22-B9E6-4905-B045-44F9B200290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26864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6CF03-0E64-4298-8EE1-46C2A95A1B60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292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A8916E-C2D5-9229-06AF-A2493117C7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9BCAE6-2300-EF57-2D49-F7E30510B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DABC09-5480-A0C3-109E-FC8FCEE8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96165-50BF-2662-576E-A4C53B61C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A9A30F-13FD-8AB6-F983-18DE3284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3951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7DA706-6C99-61EA-453B-DD4B87876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619B04-7B6A-0F63-1EC1-EA6A25546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2B11881-D2D7-467D-6EB7-199CBBA72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6A2726-2ABD-1EFF-5711-079235FC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F4748E-07C8-086D-5CFF-5FE32E0C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1317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ECB2B4-AB08-C0D8-5D2F-4237768E5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3F8F8B-AD74-756B-D682-82F74EE35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359EC1-EF40-ED14-AF0D-B381403A3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FCB8BF-4FBC-9DEA-A06D-7CA48D167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350432-D9C0-E1C6-9C71-31E5F2F2B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53389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D2995A-123C-F619-3877-E1387E74F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A782C1-F7FC-6C8D-E025-9EAE0113A1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7CB0A2-3E84-629A-C587-7F8385A85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820CFA-BEB2-1F59-F174-84677D287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9CE0046-E31C-AFDF-FDCA-028E619C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6171EE-6560-5289-900F-9E5C4B74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57453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DEAADF-C1F1-4425-6943-925B138B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31A003-0B69-0718-C05A-24B61A03D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B3D092F-1B7C-8CF0-DBF9-B55977F39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4AD466-4ACE-CC4E-722A-A633ADF0F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BBEEF5-E28C-BEBC-A856-295BA20B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5339B1D-EAF7-5D06-C23E-86357B002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30AC63A-3F98-F273-A11D-5B2DFAF2B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C20243-881B-3B06-5813-057CA2D01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58398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3F61-8C0C-871A-2D9E-13EC1FF5D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F470B2-2831-CC56-C5A5-7F8A74ADA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AEBC57C-B268-AB9B-1A50-5C3A3B1DE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124F87-A218-EC31-2D40-07567A87F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814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6323388-03CE-9942-7C00-6CAA94492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D52C2FC-358C-F39B-420A-E64772935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242429-07B4-9054-A986-064C7667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6099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FE6464-569B-937B-9EC0-9A696D4F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43A510-9470-AD4A-8303-0AEFC7FD4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EA66C98-2D8D-58CB-6FCB-AE666769AA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D8D50C-0DF1-5B59-38DB-AA6D5DF2F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65B5FB6-459A-A8BC-8D42-E0389E70E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171F3F-1EA7-F22D-68A8-BA7BE9ED5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6129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F51C3-0FEC-9612-5EEA-24C904494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054BE53-1576-25D8-C395-0E2EC9038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6A0302-FF86-B672-05BA-3576D41C5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45388A-45CD-8AFA-BC9D-DE595675F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BB97B1B-6395-D4CD-3262-11264840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370361-9395-AC6F-3DF7-97B04CA7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9263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22E2F6-5270-6CF4-4E0A-969F2C59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BFDFFA-56F4-5DF5-06D7-83B9D9DA9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BEAF86-3ED3-77C7-7269-2CDD81512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94F7CC-C291-E6D6-83AB-13807348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6F59D0-1706-FFA6-3CF6-EE2C6F93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7638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9782BEB-40ED-07BE-3EF2-B69D545A2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E0EFF8-D9D1-FCD6-7226-0BA0ADB03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556E8D-4118-7FA1-A497-5978C197A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0DAB3F-EAEA-FC1E-AFC3-342EAE51D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3439BC-F0A6-4FE6-6375-F57B553F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82364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3FE26EB-ACA1-350D-3821-3C8C1F9D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79152B3-02BB-CB5B-1FD5-228D96E60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9854D6-F36D-D103-07D1-D90CE69BD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9E16-D1EE-4141-BF76-FB34F49BA178}" type="datetimeFigureOut">
              <a:rPr lang="de-CH" smtClean="0"/>
              <a:t>22.03.2026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F7F26B-AB76-8BBB-9314-D30D546A9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49FFAA-E38A-FC79-4088-FCB9C76C6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D67EE-59A8-49D0-8412-1D978DF6CB12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8469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1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21" Type="http://schemas.openxmlformats.org/officeDocument/2006/relationships/image" Target="../media/image15.png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13.png"/><Relationship Id="rId2" Type="http://schemas.openxmlformats.org/officeDocument/2006/relationships/image" Target="../media/image5.png"/><Relationship Id="rId16" Type="http://schemas.microsoft.com/office/2007/relationships/hdphoto" Target="../media/hdphoto7.wdp"/><Relationship Id="rId20" Type="http://schemas.microsoft.com/office/2007/relationships/hdphoto" Target="../media/hdphoto9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microsoft.com/office/2007/relationships/hdphoto" Target="../media/hdphoto2.wdp"/><Relationship Id="rId15" Type="http://schemas.openxmlformats.org/officeDocument/2006/relationships/image" Target="../media/image12.png"/><Relationship Id="rId10" Type="http://schemas.openxmlformats.org/officeDocument/2006/relationships/image" Target="../media/image9.png"/><Relationship Id="rId19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microsoft.com/office/2007/relationships/hdphoto" Target="../media/hdphoto4.wdp"/><Relationship Id="rId14" Type="http://schemas.microsoft.com/office/2007/relationships/hdphoto" Target="../media/hdphoto6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4.wdp"/><Relationship Id="rId5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microsoft.com/office/2007/relationships/hdphoto" Target="../media/hdphoto7.wdp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6" Type="http://schemas.microsoft.com/office/2007/relationships/hdphoto" Target="../media/hdphoto6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microsoft.com/office/2007/relationships/hdphoto" Target="../media/hdphoto9.wdp"/><Relationship Id="rId5" Type="http://schemas.microsoft.com/office/2007/relationships/hdphoto" Target="../media/hdphoto2.wdp"/><Relationship Id="rId15" Type="http://schemas.openxmlformats.org/officeDocument/2006/relationships/image" Target="../media/image11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microsoft.com/office/2007/relationships/hdphoto" Target="../media/hdphoto8.wdp"/><Relationship Id="rId14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5" Type="http://schemas.microsoft.com/office/2007/relationships/hdphoto" Target="../media/hdphoto9.wdp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5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microsoft.com/office/2007/relationships/hdphoto" Target="../media/hdphoto9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14.png"/><Relationship Id="rId5" Type="http://schemas.openxmlformats.org/officeDocument/2006/relationships/image" Target="../media/image19.png"/><Relationship Id="rId10" Type="http://schemas.openxmlformats.org/officeDocument/2006/relationships/image" Target="../media/image9.png"/><Relationship Id="rId4" Type="http://schemas.openxmlformats.org/officeDocument/2006/relationships/image" Target="../media/image18.png"/><Relationship Id="rId9" Type="http://schemas.microsoft.com/office/2007/relationships/hdphoto" Target="../media/hdphoto4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3.png"/><Relationship Id="rId7" Type="http://schemas.openxmlformats.org/officeDocument/2006/relationships/image" Target="../media/image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hdphoto" Target="../media/hdphoto9.wdp"/><Relationship Id="rId4" Type="http://schemas.openxmlformats.org/officeDocument/2006/relationships/image" Target="../media/image14.png"/><Relationship Id="rId9" Type="http://schemas.microsoft.com/office/2007/relationships/hdphoto" Target="../media/hdphoto5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4.png"/><Relationship Id="rId7" Type="http://schemas.microsoft.com/office/2007/relationships/hdphoto" Target="../media/hdphoto5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microsoft.com/office/2007/relationships/hdphoto" Target="../media/hdphoto9.wdp"/><Relationship Id="rId9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3" Type="http://schemas.microsoft.com/office/2007/relationships/hdphoto" Target="../media/hdphoto9.wdp"/><Relationship Id="rId7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6.wdp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55303-22EA-9161-49FE-2860F26799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Top Down Shooter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EFA9565-ADE1-3124-10C9-267E889260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391993"/>
          </a:xfrm>
        </p:spPr>
        <p:txBody>
          <a:bodyPr>
            <a:normAutofit lnSpcReduction="10000"/>
          </a:bodyPr>
          <a:lstStyle/>
          <a:p>
            <a:r>
              <a:rPr lang="de-CH" dirty="0"/>
              <a:t>Modul 306A</a:t>
            </a:r>
            <a:br>
              <a:rPr lang="de-CH" dirty="0"/>
            </a:br>
            <a:br>
              <a:rPr lang="de-CH" dirty="0"/>
            </a:br>
            <a:br>
              <a:rPr lang="de-CH" dirty="0"/>
            </a:b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0655BD4-888F-694C-A348-3857B314A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167" y="3509963"/>
            <a:ext cx="3569284" cy="17846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BEF8E9F-7DBE-610A-0C04-A5FA66CC0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474" y="3602037"/>
            <a:ext cx="2961995" cy="169256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D418988-2F9C-7F1F-1724-3E6084201A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772" y="725463"/>
            <a:ext cx="1687746" cy="15907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5DA14A6-23C6-F23C-789B-712CF7494C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1410" y="234939"/>
            <a:ext cx="3964237" cy="208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484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llipse 15">
            <a:extLst>
              <a:ext uri="{FF2B5EF4-FFF2-40B4-BE49-F238E27FC236}">
                <a16:creationId xmlns:a16="http://schemas.microsoft.com/office/drawing/2014/main" id="{EF4EAA89-2562-F541-5E43-8765AD5BDA2A}"/>
              </a:ext>
            </a:extLst>
          </p:cNvPr>
          <p:cNvSpPr>
            <a:spLocks/>
          </p:cNvSpPr>
          <p:nvPr/>
        </p:nvSpPr>
        <p:spPr>
          <a:xfrm>
            <a:off x="4054662" y="1073645"/>
            <a:ext cx="4320000" cy="43200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87EF0D-8196-CE23-62DF-B1C2F495C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156" y="438378"/>
            <a:ext cx="2620617" cy="456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dirty="0"/>
              <a:t>Inhalt</a:t>
            </a:r>
          </a:p>
          <a:p>
            <a:endParaRPr lang="de-CH" dirty="0"/>
          </a:p>
          <a:p>
            <a:endParaRPr lang="de-CH" dirty="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FB9D135-6C9B-9C4D-FE88-51EB831A4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5337594" y="4418060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9B5C33AE-D726-D2D0-EB89-C78359847A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4461000" y="3683139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4E804DB5-87C4-C243-D734-348AAFAB04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7244324" y="3683140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4E5DA23A-AC70-F801-DD1E-46F50AF5CFF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16169" y="1183712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F2FE080-784B-B965-ECDF-FEE3196B79A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2003" t="-12660" r="-7994" b="-13452"/>
          <a:stretch>
            <a:fillRect/>
          </a:stretch>
        </p:blipFill>
        <p:spPr>
          <a:xfrm>
            <a:off x="6856434" y="1612319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90F9A49-F36B-BA33-D2A8-48FB4A3F0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07447" y="263201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1D93F98D-5577-E276-A05E-5D544A42781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385081" y="4398371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8F292C12-FC58-A82B-90D8-FCBE88E34A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71672" y="1642955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BCC94B5-9F72-81B7-0AFB-F9C5A996F507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4152391" y="2632015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D945EF9-E10B-B28C-0F67-9EB9B10A702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5978666" y="2969757"/>
            <a:ext cx="529281" cy="527776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1FF6908A-A34E-73E4-5EF1-29A923C81B7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6269918" y="2393454"/>
            <a:ext cx="822183" cy="814378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55BE3D22-11B8-2737-9E57-9AF3C0D4A7F8}"/>
              </a:ext>
            </a:extLst>
          </p:cNvPr>
          <p:cNvSpPr txBox="1"/>
          <p:nvPr/>
        </p:nvSpPr>
        <p:spPr>
          <a:xfrm>
            <a:off x="4795242" y="566163"/>
            <a:ext cx="2716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Rollenzuteilung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447B6570-3694-1658-D5A5-734D06CAB08F}"/>
              </a:ext>
            </a:extLst>
          </p:cNvPr>
          <p:cNvSpPr txBox="1"/>
          <p:nvPr/>
        </p:nvSpPr>
        <p:spPr>
          <a:xfrm>
            <a:off x="1685925" y="2853200"/>
            <a:ext cx="221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Anforderung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8022963" y="1581583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Ressourcen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DC83995-5F72-6DE6-4499-4755D22F9164}"/>
              </a:ext>
            </a:extLst>
          </p:cNvPr>
          <p:cNvSpPr txBox="1"/>
          <p:nvPr/>
        </p:nvSpPr>
        <p:spPr>
          <a:xfrm>
            <a:off x="8549270" y="2853200"/>
            <a:ext cx="2346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>
                <a:latin typeface="Castellar" panose="020A0402060406010301" pitchFamily="18" charset="0"/>
              </a:rPr>
              <a:t>RisikoAnalyse</a:t>
            </a:r>
            <a:endParaRPr lang="de-CH" dirty="0">
              <a:latin typeface="Castellar" panose="020A0402060406010301" pitchFamily="18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C26EF30-ED43-37F8-FE22-9ED1C7C07D16}"/>
              </a:ext>
            </a:extLst>
          </p:cNvPr>
          <p:cNvSpPr txBox="1"/>
          <p:nvPr/>
        </p:nvSpPr>
        <p:spPr>
          <a:xfrm>
            <a:off x="918278" y="4046549"/>
            <a:ext cx="3346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Testen und Probieren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2F55BB3-685E-CDCD-80E9-97181BF81882}"/>
              </a:ext>
            </a:extLst>
          </p:cNvPr>
          <p:cNvSpPr txBox="1"/>
          <p:nvPr/>
        </p:nvSpPr>
        <p:spPr>
          <a:xfrm>
            <a:off x="3541700" y="5239898"/>
            <a:ext cx="179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Umsetzung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67890207-0C8F-E308-DC46-27EF8F727741}"/>
              </a:ext>
            </a:extLst>
          </p:cNvPr>
          <p:cNvSpPr txBox="1"/>
          <p:nvPr/>
        </p:nvSpPr>
        <p:spPr>
          <a:xfrm>
            <a:off x="8304432" y="4046549"/>
            <a:ext cx="1174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Genre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79AFBFC-B901-6279-29E6-8445C85F3BBA}"/>
              </a:ext>
            </a:extLst>
          </p:cNvPr>
          <p:cNvSpPr txBox="1"/>
          <p:nvPr/>
        </p:nvSpPr>
        <p:spPr>
          <a:xfrm>
            <a:off x="2335556" y="1581583"/>
            <a:ext cx="20030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Frage Runde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6BB4331-00A6-52DD-CE3B-B41980AF6C55}"/>
              </a:ext>
            </a:extLst>
          </p:cNvPr>
          <p:cNvSpPr txBox="1"/>
          <p:nvPr/>
        </p:nvSpPr>
        <p:spPr>
          <a:xfrm>
            <a:off x="7185515" y="5228514"/>
            <a:ext cx="19374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latin typeface="Castellar" panose="020A0402060406010301" pitchFamily="18" charset="0"/>
              </a:rPr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344326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71EDF7-F00D-F177-CDF3-FB621D8E8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Zuständigkeiten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C7D2A82-F9C5-DB0B-E323-53B172ADB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51289"/>
              </p:ext>
            </p:extLst>
          </p:nvPr>
        </p:nvGraphicFramePr>
        <p:xfrm>
          <a:off x="1638300" y="1577629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41984314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83595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Auftragnehmer / -geber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Begriff / Abkürzung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147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Stefanie Gerber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PL (Projektleitung)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146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Christophe Grädel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DEV (Development)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8811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Benjamin Phengrasamy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BA (Business Analyst)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631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Sujanthan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Sutheralingam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QA (Qualitätssicherung)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16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Michal </a:t>
                      </a:r>
                      <a:r>
                        <a:rPr lang="de-CH" dirty="0" err="1"/>
                        <a:t>Durik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Auftraggeber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496979"/>
                  </a:ext>
                </a:extLst>
              </a:tr>
            </a:tbl>
          </a:graphicData>
        </a:graphic>
      </p:graphicFrame>
      <p:sp>
        <p:nvSpPr>
          <p:cNvPr id="3" name="Ellipse 2">
            <a:extLst>
              <a:ext uri="{FF2B5EF4-FFF2-40B4-BE49-F238E27FC236}">
                <a16:creationId xmlns:a16="http://schemas.microsoft.com/office/drawing/2014/main" id="{01F33924-A850-7CA4-6067-074B8DE4D065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D7D6DD6-53FF-9C68-70C6-7364ED1AE3A2}"/>
              </a:ext>
            </a:extLst>
          </p:cNvPr>
          <p:cNvSpPr>
            <a:spLocks/>
          </p:cNvSpPr>
          <p:nvPr/>
        </p:nvSpPr>
        <p:spPr>
          <a:xfrm>
            <a:off x="-1440000" y="537286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8315DD8-FD5E-C53D-0CB5-FE359F2F7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3E6140A-078B-DAA6-DD53-2BF02C03D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1EDD7D0-A569-5207-BA85-B4A7604F99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8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4217619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43200000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185 C 0.02852 0.06389 0.03334 0.06366 0.03946 0.13264 C 0.04493 0.17269 0.03217 0.26413 0.00599 0.30718 C -0.01888 0.3507 -0.03828 0.36204 -0.0694 0.36968 C -0.11145 0.36459 -0.12382 0.36459 -0.15547 0.31783 " pathEditMode="relative" rAng="7860000" ptsTypes="AAAAA">
                                      <p:cBhvr>
                                        <p:cTn id="10" dur="200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94" y="228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fik 37">
            <a:extLst>
              <a:ext uri="{FF2B5EF4-FFF2-40B4-BE49-F238E27FC236}">
                <a16:creationId xmlns:a16="http://schemas.microsoft.com/office/drawing/2014/main" id="{314F7E7B-8E3C-E721-93FC-DA620D70A9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83571" l="8462" r="88462">
                        <a14:foregroundMark x1="20385" y1="10357" x2="26538" y2="15000"/>
                        <a14:foregroundMark x1="12308" y1="22143" x2="11923" y2="26071"/>
                        <a14:foregroundMark x1="8846" y1="21786" x2="8462" y2="18929"/>
                        <a14:foregroundMark x1="69615" y1="81786" x2="76923" y2="83214"/>
                        <a14:foregroundMark x1="86538" y1="65357" x2="88846" y2="71429"/>
                        <a14:foregroundMark x1="36923" y1="83571" x2="36154" y2="82500"/>
                      </a14:backgroundRemoval>
                    </a14:imgEffect>
                  </a14:imgLayer>
                </a14:imgProps>
              </a:ext>
            </a:extLst>
          </a:blip>
          <a:srcRect l="-8052" t="-8124" r="-3544" b="-769"/>
          <a:stretch>
            <a:fillRect/>
          </a:stretch>
        </p:blipFill>
        <p:spPr>
          <a:xfrm>
            <a:off x="10026922" y="3797066"/>
            <a:ext cx="75840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8230DA0B-7651-0A25-E0DA-F5353BD991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412" b="95000" l="52955" r="96136">
                        <a14:foregroundMark x1="71364" y1="51176" x2="70000" y2="53824"/>
                        <a14:foregroundMark x1="77955" y1="55588" x2="65000" y2="47353"/>
                        <a14:foregroundMark x1="65000" y1="47353" x2="74091" y2="57941"/>
                        <a14:foregroundMark x1="74091" y1="57941" x2="76818" y2="48824"/>
                        <a14:foregroundMark x1="77045" y1="49118" x2="72273" y2="43824"/>
                        <a14:foregroundMark x1="67045" y1="57353" x2="76818" y2="58824"/>
                        <a14:foregroundMark x1="63864" y1="70294" x2="69318" y2="66471"/>
                        <a14:foregroundMark x1="83409" y1="64412" x2="78864" y2="64706"/>
                        <a14:foregroundMark x1="77955" y1="89118" x2="85000" y2="88824"/>
                        <a14:foregroundMark x1="69318" y1="91176" x2="60455" y2="90588"/>
                        <a14:foregroundMark x1="57955" y1="92941" x2="56818" y2="95294"/>
                        <a14:foregroundMark x1="87045" y1="57941" x2="87045" y2="55882"/>
                        <a14:foregroundMark x1="94091" y1="9412" x2="95227" y2="12059"/>
                        <a14:foregroundMark x1="96136" y1="24412" x2="96136" y2="27353"/>
                        <a14:foregroundMark x1="88182" y1="45882" x2="89773" y2="32059"/>
                        <a14:backgroundMark x1="77955" y1="62941" x2="78636" y2="62647"/>
                        <a14:backgroundMark x1="86591" y1="56471" x2="86818" y2="55294"/>
                        <a14:backgroundMark x1="87273" y1="47941" x2="87273" y2="48529"/>
                      </a14:backgroundRemoval>
                    </a14:imgEffect>
                  </a14:imgLayer>
                </a14:imgProps>
              </a:ext>
            </a:extLst>
          </a:blip>
          <a:srcRect l="33123" t="5090" r="-10312"/>
          <a:stretch>
            <a:fillRect/>
          </a:stretch>
        </p:blipFill>
        <p:spPr>
          <a:xfrm>
            <a:off x="10047717" y="4611483"/>
            <a:ext cx="787927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C2DDFC27-A58E-0B18-E986-D93F8EAAB2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19010" y1="45367" x2="27476" y2="43450"/>
                        <a14:foregroundMark x1="20447" y1="27796" x2="23003" y2="29553"/>
                        <a14:foregroundMark x1="31150" y1="12300" x2="33067" y2="19169"/>
                        <a14:foregroundMark x1="69169" y1="14217" x2="66773" y2="19489"/>
                        <a14:foregroundMark x1="74281" y1="30671" x2="79553" y2="28115"/>
                        <a14:foregroundMark x1="74760" y1="43610" x2="79872" y2="45048"/>
                        <a14:foregroundMark x1="55272" y1="86741" x2="49201" y2="8754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099296" y="5285911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C0AE6121-A3DC-449B-0D4D-281A990748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t="-12517" b="-35120"/>
          <a:stretch>
            <a:fillRect/>
          </a:stretch>
        </p:blipFill>
        <p:spPr>
          <a:xfrm>
            <a:off x="8910568" y="2334476"/>
            <a:ext cx="790089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4" name="Ellipse 23">
            <a:extLst>
              <a:ext uri="{FF2B5EF4-FFF2-40B4-BE49-F238E27FC236}">
                <a16:creationId xmlns:a16="http://schemas.microsoft.com/office/drawing/2014/main" id="{1EE31E08-72FD-4BAD-6688-A31BFA8E51F8}"/>
              </a:ext>
            </a:extLst>
          </p:cNvPr>
          <p:cNvSpPr>
            <a:spLocks/>
          </p:cNvSpPr>
          <p:nvPr/>
        </p:nvSpPr>
        <p:spPr>
          <a:xfrm>
            <a:off x="3615724" y="427752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4F03A2EA-FF35-7BC0-3F26-78F25049EEC6}"/>
              </a:ext>
            </a:extLst>
          </p:cNvPr>
          <p:cNvSpPr>
            <a:spLocks/>
          </p:cNvSpPr>
          <p:nvPr/>
        </p:nvSpPr>
        <p:spPr>
          <a:xfrm>
            <a:off x="4398344" y="114775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A3EED7AD-8265-F94B-4118-E971D5D4524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5522913" y="2335659"/>
            <a:ext cx="505623" cy="50418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5697E7E0-854E-5E94-B728-4204E130458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5786831" y="1774319"/>
            <a:ext cx="785434" cy="777978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E4D0CEFC-F192-86EA-3C74-BEF5222FC8E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6434899" y="1195563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22E4227C-CB76-D1F3-7EE6-A1749E2D948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4309799" y="3192275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02393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023 C -0.02748 -0.04769 -0.04727 -0.05926 -0.08334 -0.06042 C -0.10729 -0.07037 -0.15196 -0.03079 -0.16992 -0.00579 C -0.18724 0.02245 -0.20534 0.09467 -0.20261 0.1375 C -0.20235 0.20602 -0.19297 0.23217 -0.16992 0.2912 " pathEditMode="relative" rAng="8280000" ptsTypes="AAAAA">
                                      <p:cBhvr>
                                        <p:cTn id="6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422" y="685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-0.00046 C 0.02969 0.03102 0.0681 0.07708 0.08971 0.06204 C 0.12461 0.06991 0.16237 0.02408 0.18242 -0.01227 C 0.20195 -0.04768 0.20938 -0.10139 0.2082 -0.15417 C 0.20925 -0.20509 0.18711 -0.27639 0.17318 -0.29398 " pathEditMode="relative" rAng="19200000" ptsTypes="AAAAA">
                                      <p:cBhvr>
                                        <p:cTn id="1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14" y="-713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B32BD-05A2-E66D-D83B-005ECF118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Projektübersicht und Aufgaben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B980437-559B-2643-9FEB-17CF4ECC05DB}"/>
              </a:ext>
            </a:extLst>
          </p:cNvPr>
          <p:cNvSpPr txBox="1"/>
          <p:nvPr/>
        </p:nvSpPr>
        <p:spPr>
          <a:xfrm>
            <a:off x="1255362" y="1968285"/>
            <a:ext cx="58026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Inhalt: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Entwicklung eines 2D Top-Down Shooter Spiels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Spieler wird von Gegnern angegriffen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Gegner erscheinen vom Bildschirmrand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Ziel: Gegner besiegen und Punkte sammeln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Zusammenarbeit über GitHub</a:t>
            </a:r>
          </a:p>
          <a:p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9DAEC3C-D9D5-D3B9-8427-80556CEEC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50401" y="742560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C2B458C4-F0F9-3423-2979-E7F6E8C6DFCD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4A6B209-6909-5F16-1231-0857352EB22F}"/>
              </a:ext>
            </a:extLst>
          </p:cNvPr>
          <p:cNvSpPr>
            <a:spLocks/>
          </p:cNvSpPr>
          <p:nvPr/>
        </p:nvSpPr>
        <p:spPr>
          <a:xfrm>
            <a:off x="-1440000" y="5372862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3C20069-2A9C-6DC2-4132-57E6ADC0C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FF7ABBA-11B1-B521-CB10-6272F11C67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8137FC6E-E870-F4FD-79EC-94911377E2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80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3538591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ED2B4D-191E-E63A-F1A1-A368E5AB6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Ressource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60AAAB-0AD4-5C1A-516F-0F2042C7FC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972651" y="579634"/>
            <a:ext cx="1928010" cy="19516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273EC85-21D0-612C-A832-455BD4D4D3D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17241" r="16302"/>
          <a:stretch>
            <a:fillRect/>
          </a:stretch>
        </p:blipFill>
        <p:spPr>
          <a:xfrm>
            <a:off x="9097453" y="845170"/>
            <a:ext cx="1678406" cy="142061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5133D55-9644-4456-B96E-C70A4F1508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65" t="7529" r="2207" b="6707"/>
          <a:stretch>
            <a:fillRect/>
          </a:stretch>
        </p:blipFill>
        <p:spPr>
          <a:xfrm>
            <a:off x="8388843" y="4791558"/>
            <a:ext cx="3095625" cy="1476375"/>
          </a:xfrm>
          <a:prstGeom prst="rect">
            <a:avLst/>
          </a:prstGeom>
          <a:ln>
            <a:noFill/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D20714-CB0A-AF40-01AE-ED23ECB4D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9830" y="2969911"/>
            <a:ext cx="2525533" cy="142061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5DE016C-9B93-62A6-C8E7-4014E0361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3503" y="2885988"/>
            <a:ext cx="2986306" cy="158846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0A9AE06-399D-B2B4-E6D5-D97C100528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4783" y="811963"/>
            <a:ext cx="3095625" cy="1476375"/>
          </a:xfrm>
          <a:prstGeom prst="rect">
            <a:avLst/>
          </a:prstGeom>
        </p:spPr>
      </p:pic>
      <p:sp>
        <p:nvSpPr>
          <p:cNvPr id="22" name="Ellipse 21">
            <a:extLst>
              <a:ext uri="{FF2B5EF4-FFF2-40B4-BE49-F238E27FC236}">
                <a16:creationId xmlns:a16="http://schemas.microsoft.com/office/drawing/2014/main" id="{99EA1C13-8639-ED42-3092-D53F86B970DC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31011AB8-F89A-5938-996B-7DAD8BDC2DFB}"/>
              </a:ext>
            </a:extLst>
          </p:cNvPr>
          <p:cNvSpPr>
            <a:spLocks/>
          </p:cNvSpPr>
          <p:nvPr/>
        </p:nvSpPr>
        <p:spPr>
          <a:xfrm>
            <a:off x="-1466322" y="5372863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EAC45CF9-FFFB-98FE-1F11-2F243AFE89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18530" y1="41214" x2="38658" y2="285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4386" y="5318179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274B2D91-1796-E367-807B-B80DDFC67F4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2003" t="-12660" r="-7994" b="-13452"/>
          <a:stretch>
            <a:fillRect/>
          </a:stretch>
        </p:blipFill>
        <p:spPr>
          <a:xfrm>
            <a:off x="-1319627" y="7501015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2329E72-E757-9E69-D86C-67372218523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74243" y="6483252"/>
            <a:ext cx="505623" cy="504186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1BD0F7A5-A3CA-F0A2-FB81-7032F3D5BC3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-10325" y="5921912"/>
            <a:ext cx="785434" cy="777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33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37 0.31459 C -0.18946 0.24653 -0.19466 0.24699 -0.19948 0.17755 C -0.20378 0.13658 -0.18972 0.0463 -0.16224 0.00556 C -0.13672 -0.03634 -0.11719 -0.04606 -0.08594 -0.05208 C -0.04336 -0.04491 -0.03164 -0.04352 -0.00091 0.00509 " pathEditMode="relative" rAng="18780000" ptsTypes="AAAAA">
                                      <p:cBhvr>
                                        <p:cTn id="6" dur="2000" spd="-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266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23 C 0.02396 0.03542 0.04466 0.05232 0.07956 0.05834 C 0.1155 0.05741 0.14909 0.01412 0.16367 -0.01273 C 0.17891 -0.04398 0.19649 -0.12454 0.19154 -0.16366 C 0.18971 -0.24699 0.16302 -0.29352 0.15221 -0.31296 " pathEditMode="relative" rAng="18780000" ptsTypes="AAAAA">
                                      <p:cBhvr>
                                        <p:cTn id="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49" y="-8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E40B3A-C775-BCE5-E83E-E6D53313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Risikoanalyse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D1E0611-BD29-1D96-3A30-2C2EDA809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549" y="3810000"/>
            <a:ext cx="2105025" cy="210502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A4AFF0A-452D-3788-AB0D-F9454EF04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1" y="1019175"/>
            <a:ext cx="2495549" cy="249554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B8B8D965-EA80-AA5C-C65E-BC34CA705887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4060F48-3AD5-9630-C745-1A65114ACC2B}"/>
              </a:ext>
            </a:extLst>
          </p:cNvPr>
          <p:cNvSpPr>
            <a:spLocks/>
          </p:cNvSpPr>
          <p:nvPr/>
        </p:nvSpPr>
        <p:spPr>
          <a:xfrm>
            <a:off x="-144000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E303E42-1FA3-8070-F701-D3B68E2D8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9252688-BC0A-83EF-86EA-9E6D677F82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8FFED36-59DD-9310-959E-A3FBB1708E4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2003" t="-12660" r="-7994" b="-13452"/>
          <a:stretch>
            <a:fillRect/>
          </a:stretch>
        </p:blipFill>
        <p:spPr>
          <a:xfrm>
            <a:off x="567711" y="5418000"/>
            <a:ext cx="82152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2DA5E3F2-833B-EC53-15FA-3081B9C62F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50980" y="7462523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325146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1.85185E-6 C -0.02266 -0.03912 -0.04102 -0.04537 -0.07578 -0.05533 C -0.11146 -0.05949 -0.14662 -0.02037 -0.16276 0.00532 C -0.17891 0.03495 -0.19961 0.11296 -0.19623 0.15231 C -0.19792 0.23657 -0.17292 0.28565 -0.16302 0.30717 " pathEditMode="relative" rAng="8220000" ptsTypes="AAA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849" y="828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E-6 0.00069 C 0.02409 0.03426 0.02813 0.05416 0.07188 0.06041 C 0.13724 0.0449 0.14128 0.03356 0.16224 -0.00232 C 0.18269 -0.03866 0.1974 -0.11482 0.19597 -0.15533 C 0.19844 -0.19885 0.18516 -0.24375 0.17917 -0.26713 C 0.17318 -0.28982 0.16602 -0.29213 0.16381 -0.29815 " pathEditMode="relative" rAng="19080000" ptsTypes="AAAA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36" y="-791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CDEFB4-EEAB-35BC-C6AA-B3DB78BA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CH" dirty="0"/>
              <a:t>Spielkonzept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D7C6C5-8050-D9F7-AF67-02FA0CBD5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8806" y="2966122"/>
            <a:ext cx="5594889" cy="352675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b="1" dirty="0">
                <a:solidFill>
                  <a:srgbClr val="FF0000"/>
                </a:solidFill>
              </a:rPr>
              <a:t>Notiz und Bilder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Spieler befindet sich in der Mitte</a:t>
            </a:r>
          </a:p>
          <a:p>
            <a:r>
              <a:rPr lang="de-DE" dirty="0">
                <a:solidFill>
                  <a:srgbClr val="FF0000"/>
                </a:solidFill>
              </a:rPr>
              <a:t>Gegner greifen von </a:t>
            </a:r>
            <a:r>
              <a:rPr lang="de-DE" dirty="0" err="1">
                <a:solidFill>
                  <a:srgbClr val="FF0000"/>
                </a:solidFill>
              </a:rPr>
              <a:t>aussen</a:t>
            </a:r>
            <a:r>
              <a:rPr lang="de-DE" dirty="0">
                <a:solidFill>
                  <a:srgbClr val="FF0000"/>
                </a:solidFill>
              </a:rPr>
              <a:t> an</a:t>
            </a:r>
          </a:p>
          <a:p>
            <a:r>
              <a:rPr lang="de-DE" dirty="0">
                <a:solidFill>
                  <a:srgbClr val="FF0000"/>
                </a:solidFill>
              </a:rPr>
              <a:t>Hindernisse blockieren Bewegung</a:t>
            </a:r>
          </a:p>
          <a:p>
            <a:r>
              <a:rPr lang="de-DE" dirty="0">
                <a:solidFill>
                  <a:srgbClr val="FF0000"/>
                </a:solidFill>
              </a:rPr>
              <a:t>Leben (Herzen) oben links</a:t>
            </a:r>
          </a:p>
          <a:p>
            <a:r>
              <a:rPr lang="de-DE" dirty="0">
                <a:solidFill>
                  <a:srgbClr val="FF0000"/>
                </a:solidFill>
              </a:rPr>
              <a:t>Score zeigt Punkte</a:t>
            </a:r>
          </a:p>
          <a:p>
            <a:r>
              <a:rPr lang="de-DE" dirty="0">
                <a:solidFill>
                  <a:srgbClr val="FF0000"/>
                </a:solidFill>
              </a:rPr>
              <a:t>Munition rechts</a:t>
            </a:r>
          </a:p>
          <a:p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259A48-34D6-4B88-A1DB-6452036FD4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3195" y="861899"/>
            <a:ext cx="5754181" cy="4208445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498D7B23-0BC6-57DE-199F-6F47F72237E5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44D88D2-D82A-8A18-16D7-730FB31A343C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19A2F34-2927-A94D-715C-12B99A438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6E63EE0-B185-609C-C2B7-A3E6598132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84E1520-D88D-BDA0-DFB6-7AF0C21E08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167" l="9667" r="90000">
                        <a14:foregroundMark x1="18667" y1="62333" x2="38833" y2="52500"/>
                        <a14:foregroundMark x1="38833" y1="52500" x2="41500" y2="52000"/>
                        <a14:foregroundMark x1="26500" y1="55333" x2="18333" y2="57000"/>
                        <a14:foregroundMark x1="29167" y1="73167" x2="42500" y2="78833"/>
                        <a14:foregroundMark x1="42500" y1="78833" x2="44167" y2="78500"/>
                        <a14:foregroundMark x1="34333" y1="73000" x2="27500" y2="80000"/>
                        <a14:foregroundMark x1="9833" y1="52167" x2="9833" y2="55667"/>
                        <a14:foregroundMark x1="58000" y1="21667" x2="32833" y2="20167"/>
                        <a14:foregroundMark x1="58667" y1="43667" x2="78000" y2="52500"/>
                        <a14:foregroundMark x1="71500" y1="74167" x2="62833" y2="73833"/>
                        <a14:foregroundMark x1="62833" y1="73833" x2="53667" y2="70833"/>
                        <a14:foregroundMark x1="53667" y1="70833" x2="57667" y2="63333"/>
                        <a14:foregroundMark x1="57667" y1="63333" x2="66333" y2="67667"/>
                        <a14:foregroundMark x1="66333" y1="67667" x2="69667" y2="68333"/>
                        <a14:foregroundMark x1="54333" y1="63000" x2="56167" y2="61167"/>
                        <a14:foregroundMark x1="31833" y1="26000" x2="31167" y2="19333"/>
                        <a14:foregroundMark x1="24667" y1="90167" x2="26000" y2="90000"/>
                        <a14:foregroundMark x1="11000" y1="56167" x2="9833" y2="52833"/>
                        <a14:backgroundMark x1="48167" y1="54667" x2="47667" y2="54000"/>
                        <a14:backgroundMark x1="9333" y1="56833" x2="9833" y2="5283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5635" y="5495518"/>
            <a:ext cx="796985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66B8286-3AAE-EA5B-DECB-584A0D9AC82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-1408890" y="7437464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76354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C -0.02344 -0.03542 -0.02657 -0.05625 -0.07019 -0.06621 C -0.13607 -0.05672 -0.14219 -0.04306 -0.16433 -0.01042 C -0.1862 0.02222 -0.20248 0.09028 -0.20248 0.13055 C -0.20625 0.17384 -0.19206 0.22685 -0.18698 0.25069 C -0.18138 0.27407 -0.17435 0.27685 -0.1724 0.28287 " pathEditMode="relative" rAng="8460000" ptsTypes="AAAA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83" y="675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52 -0.00046 C 0.02825 0.04861 0.04791 0.06065 0.08424 0.06297 C 0.10807 0.07431 0.15286 0.03588 0.1707 0.01158 C 0.18906 -0.01666 0.20755 -0.08819 0.20534 -0.13078 C 0.2056 -0.19977 0.19648 -0.22615 0.1737 -0.28541 " pathEditMode="relative" rAng="19140000" ptsTypes="AAA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487" y="-641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3EDD1D-FCE0-7918-5FA7-017C6C34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</a:t>
            </a:r>
            <a:r>
              <a:rPr lang="de-CH"/>
              <a:t>Funktional</a:t>
            </a:r>
            <a:r>
              <a:rPr lang="de-CH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357B29-EFB4-B8D0-18ED-4CEF52EC7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9405" y="1608809"/>
            <a:ext cx="8513190" cy="41567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🎮 Spielstart &amp; Menü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🕹️</a:t>
            </a:r>
            <a:r>
              <a:rPr lang="de-CH" sz="3200" dirty="0">
                <a:ea typeface="+mn-lt"/>
                <a:cs typeface="+mn-lt"/>
              </a:rPr>
              <a:t> Bewegung (WASD)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🎯 Schiessen &amp; Zielen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❤️</a:t>
            </a:r>
            <a:r>
              <a:rPr lang="de-CH" sz="3200" dirty="0">
                <a:ea typeface="+mn-lt"/>
                <a:cs typeface="+mn-lt"/>
              </a:rPr>
              <a:t> Health-System</a:t>
            </a:r>
            <a:endParaRPr lang="de-CH" dirty="0"/>
          </a:p>
          <a:p>
            <a:r>
              <a:rPr lang="de-CH" sz="3200" dirty="0">
                <a:latin typeface="Calibri"/>
                <a:ea typeface="Calibri"/>
                <a:cs typeface="Calibri"/>
              </a:rPr>
              <a:t>⭐ Score-System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📈 Levelsystem (50 / 100 Punkte)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🏁 Spielende</a:t>
            </a:r>
            <a:endParaRPr lang="de-CH" dirty="0"/>
          </a:p>
          <a:p>
            <a:endParaRPr lang="de-CH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018F8068-AE6D-3F2F-32BB-E050451B3336}"/>
              </a:ext>
            </a:extLst>
          </p:cNvPr>
          <p:cNvSpPr>
            <a:spLocks/>
          </p:cNvSpPr>
          <p:nvPr/>
        </p:nvSpPr>
        <p:spPr>
          <a:xfrm>
            <a:off x="-2160000" y="4698000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BA93B6D-A9AB-F945-007E-D0E117037281}"/>
              </a:ext>
            </a:extLst>
          </p:cNvPr>
          <p:cNvSpPr>
            <a:spLocks/>
          </p:cNvSpPr>
          <p:nvPr/>
        </p:nvSpPr>
        <p:spPr>
          <a:xfrm>
            <a:off x="-1377380" y="5418000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12CB05C-98EA-B5A6-BC16-090C58A12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605907"/>
            <a:ext cx="505623" cy="50418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88B3C26-5066-128C-3F63-F7CEDF1985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6044567"/>
            <a:ext cx="785434" cy="777978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5AC5A70-D1AF-6D1B-A6E4-EEB86A0206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7190" r="94444">
                        <a14:foregroundMark x1="7190" y1="72549" x2="7190" y2="73725"/>
                        <a14:foregroundMark x1="91830" y1="58824" x2="94444" y2="57843"/>
                      </a14:backgroundRemoval>
                    </a14:imgEffect>
                  </a14:imgLayer>
                </a14:imgProps>
              </a:ext>
            </a:extLst>
          </a:blip>
          <a:srcRect l="-1922" t="-11407" r="1922" b="-7758"/>
          <a:stretch>
            <a:fillRect/>
          </a:stretch>
        </p:blipFill>
        <p:spPr>
          <a:xfrm rot="20124660">
            <a:off x="659175" y="5465811"/>
            <a:ext cx="802564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577230A1-144F-8A65-51A3-A5FA2F846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-1465925" y="7462523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76468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39 -2.59259E-6 C -0.02774 -0.04791 -0.04753 -0.05949 -0.08359 -0.06065 C -0.10755 -0.0706 -0.15221 -0.03102 -0.17018 -0.00602 C -0.1875 0.02199 -0.2056 0.09445 -0.203 0.13727 C -0.20261 0.20579 -0.19323 0.23195 -0.17018 0.29097 " pathEditMode="relative" rAng="8280000" ptsTypes="AAAAA">
                                      <p:cBhvr>
                                        <p:cTn id="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422" y="685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7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-0.00047 C 0.02995 0.03101 0.06836 0.07708 0.08998 0.06203 C 0.12487 0.0699 0.16263 0.02407 0.18269 -0.01227 C 0.20222 -0.04769 0.20964 -0.10139 0.20847 -0.15417 C 0.20951 -0.20486 0.18724 -0.27616 0.17344 -0.29399 " pathEditMode="relative" rAng="19200000" ptsTypes="AAAAA">
                                      <p:cBhvr>
                                        <p:cTn id="12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14" y="-713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9E363-59CB-B398-EBE1-D45F9B5B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Anforderungen (Nicht-Funktional)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F071DF-8774-8C96-0C7A-4A6DA4110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sz="3200" dirty="0">
                <a:ea typeface="+mn-lt"/>
                <a:cs typeface="+mn-lt"/>
              </a:rPr>
              <a:t>⚡ Performance (~60 FPS)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👌</a:t>
            </a:r>
            <a:r>
              <a:rPr lang="de-CH" sz="3200" dirty="0">
                <a:ea typeface="+mn-lt"/>
                <a:cs typeface="+mn-lt"/>
              </a:rPr>
              <a:t> Benutzerfreundlichkeit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💻 Windows-Kompatibilität</a:t>
            </a:r>
            <a:endParaRPr lang="de-CH" dirty="0"/>
          </a:p>
          <a:p>
            <a:r>
              <a:rPr lang="de-CH" sz="3200" dirty="0">
                <a:latin typeface="Aptos"/>
                <a:cs typeface="Arial"/>
              </a:rPr>
              <a:t>🛡️</a:t>
            </a:r>
            <a:r>
              <a:rPr lang="de-CH" sz="3200" dirty="0">
                <a:ea typeface="+mn-lt"/>
                <a:cs typeface="+mn-lt"/>
              </a:rPr>
              <a:t> Stabilität (keine Abstürze)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🔒 Sicherheit</a:t>
            </a:r>
            <a:endParaRPr lang="de-CH" dirty="0"/>
          </a:p>
          <a:p>
            <a:r>
              <a:rPr lang="de-CH" sz="3200" dirty="0">
                <a:ea typeface="+mn-lt"/>
                <a:cs typeface="+mn-lt"/>
              </a:rPr>
              <a:t>🧩 Wartbarkeit (Code-Struktur)</a:t>
            </a:r>
            <a:endParaRPr lang="de-CH" dirty="0"/>
          </a:p>
          <a:p>
            <a:endParaRPr lang="de-CH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3F9AFE-0011-D2D6-3BE7-A3E0FD0D05DD}"/>
              </a:ext>
            </a:extLst>
          </p:cNvPr>
          <p:cNvSpPr>
            <a:spLocks/>
          </p:cNvSpPr>
          <p:nvPr/>
        </p:nvSpPr>
        <p:spPr>
          <a:xfrm>
            <a:off x="-2160000" y="4619464"/>
            <a:ext cx="4320000" cy="432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DF9C859-8CA1-8358-E4A0-FAFBFBBA419F}"/>
              </a:ext>
            </a:extLst>
          </p:cNvPr>
          <p:cNvSpPr>
            <a:spLocks/>
          </p:cNvSpPr>
          <p:nvPr/>
        </p:nvSpPr>
        <p:spPr>
          <a:xfrm>
            <a:off x="-1377380" y="5339464"/>
            <a:ext cx="2880000" cy="28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0C5CD80-60C5-1B64-1E73-1A2BCAB67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422" b="89844" l="9766" r="89844">
                        <a14:foregroundMark x1="75000" y1="7422" x2="69531" y2="23047"/>
                        <a14:backgroundMark x1="19922" y1="47266" x2="42188" y2="39844"/>
                        <a14:backgroundMark x1="42188" y1="39844" x2="57422" y2="62109"/>
                        <a14:backgroundMark x1="57422" y1="62109" x2="46875" y2="83594"/>
                        <a14:backgroundMark x1="46875" y1="83594" x2="18750" y2="80469"/>
                        <a14:backgroundMark x1="18750" y1="80469" x2="17188" y2="78516"/>
                        <a14:backgroundMark x1="23828" y1="53125" x2="8594" y2="70703"/>
                        <a14:backgroundMark x1="8594" y1="70703" x2="23438" y2="49219"/>
                        <a14:backgroundMark x1="23438" y1="49219" x2="23047" y2="59375"/>
                        <a14:backgroundMark x1="35156" y1="55078" x2="59766" y2="69922"/>
                        <a14:backgroundMark x1="59766" y1="69922" x2="53906" y2="91406"/>
                        <a14:backgroundMark x1="62109" y1="82422" x2="60938" y2="57031"/>
                        <a14:backgroundMark x1="60938" y1="57031" x2="53906" y2="46484"/>
                        <a14:backgroundMark x1="60938" y1="46875" x2="57813" y2="56641"/>
                        <a14:backgroundMark x1="64844" y1="62500" x2="68750" y2="64844"/>
                        <a14:backgroundMark x1="69141" y1="75000" x2="68359" y2="58594"/>
                        <a14:backgroundMark x1="67578" y1="76563" x2="58984" y2="44141"/>
                        <a14:backgroundMark x1="63672" y1="51563" x2="60156" y2="45703"/>
                        <a14:backgroundMark x1="63281" y1="54297" x2="45313" y2="41797"/>
                        <a14:backgroundMark x1="45313" y1="41797" x2="32813" y2="41797"/>
                        <a14:backgroundMark x1="37500" y1="38672" x2="46094" y2="41406"/>
                        <a14:backgroundMark x1="46484" y1="43359" x2="32813" y2="40234"/>
                        <a14:backgroundMark x1="31641" y1="46484" x2="20703" y2="44531"/>
                        <a14:backgroundMark x1="18750" y1="55859" x2="27734" y2="42188"/>
                        <a14:backgroundMark x1="27734" y1="45313" x2="17188" y2="46094"/>
                        <a14:backgroundMark x1="38672" y1="35938" x2="44141" y2="36328"/>
                        <a14:backgroundMark x1="38672" y1="35938" x2="30859" y2="42188"/>
                        <a14:backgroundMark x1="35156" y1="42578" x2="37500" y2="35156"/>
                        <a14:backgroundMark x1="36719" y1="39844" x2="35938" y2="35938"/>
                        <a14:backgroundMark x1="36328" y1="40625" x2="31641" y2="36328"/>
                        <a14:backgroundMark x1="36719" y1="41406" x2="26172" y2="37500"/>
                        <a14:backgroundMark x1="49219" y1="41406" x2="42188" y2="37500"/>
                        <a14:backgroundMark x1="44531" y1="40625" x2="47266" y2="39453"/>
                        <a14:backgroundMark x1="51563" y1="46094" x2="57813" y2="42188"/>
                        <a14:backgroundMark x1="62500" y1="47656" x2="64453" y2="49219"/>
                        <a14:backgroundMark x1="64453" y1="52344" x2="59375" y2="44922"/>
                        <a14:backgroundMark x1="63281" y1="50391" x2="50391" y2="45703"/>
                        <a14:backgroundMark x1="53516" y1="45703" x2="55469" y2="42969"/>
                        <a14:backgroundMark x1="54688" y1="46484" x2="48438" y2="40234"/>
                        <a14:backgroundMark x1="22656" y1="42188" x2="16016" y2="47656"/>
                        <a14:backgroundMark x1="23047" y1="43359" x2="25781" y2="44141"/>
                        <a14:backgroundMark x1="26953" y1="44531" x2="21875" y2="42188"/>
                        <a14:backgroundMark x1="28906" y1="45703" x2="19922" y2="42969"/>
                        <a14:backgroundMark x1="26172" y1="44531" x2="21484" y2="42188"/>
                        <a14:backgroundMark x1="26953" y1="45703" x2="23828" y2="41406"/>
                        <a14:backgroundMark x1="23828" y1="43359" x2="23047" y2="46094"/>
                        <a14:backgroundMark x1="12891" y1="51563" x2="12891" y2="51563"/>
                        <a14:backgroundMark x1="16797" y1="50000" x2="16797" y2="50000"/>
                        <a14:backgroundMark x1="16406" y1="50000" x2="15625" y2="49609"/>
                        <a14:backgroundMark x1="15625" y1="49219" x2="15625" y2="50781"/>
                        <a14:backgroundMark x1="17188" y1="52734" x2="17578" y2="53516"/>
                        <a14:backgroundMark x1="17578" y1="53516" x2="15234" y2="50000"/>
                        <a14:backgroundMark x1="15234" y1="49609" x2="15234" y2="49609"/>
                        <a14:backgroundMark x1="15234" y1="49219" x2="15234" y2="49219"/>
                        <a14:backgroundMark x1="15625" y1="49219" x2="15625" y2="49219"/>
                        <a14:backgroundMark x1="15625" y1="48438" x2="15625" y2="48438"/>
                        <a14:backgroundMark x1="16016" y1="48047" x2="16016" y2="48047"/>
                        <a14:backgroundMark x1="16797" y1="48828" x2="16797" y2="50391"/>
                        <a14:backgroundMark x1="17578" y1="51172" x2="17578" y2="52734"/>
                        <a14:backgroundMark x1="18359" y1="53906" x2="18359" y2="53906"/>
                        <a14:backgroundMark x1="18750" y1="54297" x2="18750" y2="54297"/>
                        <a14:backgroundMark x1="18750" y1="54297" x2="18750" y2="54297"/>
                        <a14:backgroundMark x1="18359" y1="54297" x2="16797" y2="55078"/>
                        <a14:backgroundMark x1="9766" y1="69141" x2="9375" y2="68750"/>
                        <a14:backgroundMark x1="8984" y1="67188" x2="8594" y2="66016"/>
                        <a14:backgroundMark x1="9766" y1="64453" x2="9766" y2="63281"/>
                        <a14:backgroundMark x1="12109" y1="60938" x2="12109" y2="60938"/>
                        <a14:backgroundMark x1="7813" y1="67969" x2="7813" y2="67188"/>
                        <a14:backgroundMark x1="9766" y1="62500" x2="10938" y2="61328"/>
                        <a14:backgroundMark x1="12891" y1="59766" x2="12891" y2="59766"/>
                        <a14:backgroundMark x1="19531" y1="60938" x2="18750" y2="60938"/>
                        <a14:backgroundMark x1="15234" y1="61719" x2="14453" y2="61719"/>
                        <a14:backgroundMark x1="14453" y1="61719" x2="8203" y2="59375"/>
                        <a14:backgroundMark x1="16016" y1="61328" x2="16016" y2="60547"/>
                        <a14:backgroundMark x1="14844" y1="59766" x2="14844" y2="59766"/>
                        <a14:backgroundMark x1="15234" y1="59766" x2="15234" y2="59766"/>
                        <a14:backgroundMark x1="13672" y1="59766" x2="13672" y2="59766"/>
                        <a14:backgroundMark x1="13281" y1="60547" x2="13281" y2="60547"/>
                        <a14:backgroundMark x1="11719" y1="60547" x2="10938" y2="60547"/>
                        <a14:backgroundMark x1="11719" y1="60547" x2="11719" y2="60547"/>
                        <a14:backgroundMark x1="13672" y1="60156" x2="13672" y2="60156"/>
                        <a14:backgroundMark x1="14844" y1="60156" x2="13672" y2="59766"/>
                        <a14:backgroundMark x1="13281" y1="59766" x2="13281" y2="59766"/>
                        <a14:backgroundMark x1="12891" y1="59766" x2="8203" y2="60547"/>
                        <a14:backgroundMark x1="16406" y1="59375" x2="16406" y2="59375"/>
                        <a14:backgroundMark x1="15625" y1="59375" x2="15625" y2="59375"/>
                        <a14:backgroundMark x1="62109" y1="59766" x2="68750" y2="61328"/>
                        <a14:backgroundMark x1="63281" y1="58594" x2="71484" y2="61328"/>
                        <a14:backgroundMark x1="62891" y1="59766" x2="67578" y2="70313"/>
                        <a14:backgroundMark x1="68750" y1="73438" x2="67578" y2="60547"/>
                        <a14:backgroundMark x1="69141" y1="68359" x2="69141" y2="60156"/>
                        <a14:backgroundMark x1="69141" y1="72266" x2="69531" y2="62891"/>
                        <a14:backgroundMark x1="66016" y1="73828" x2="53125" y2="71484"/>
                        <a14:backgroundMark x1="66016" y1="83984" x2="60156" y2="77734"/>
                        <a14:backgroundMark x1="64453" y1="86328" x2="59766" y2="76953"/>
                        <a14:backgroundMark x1="63672" y1="83203" x2="50000" y2="95703"/>
                        <a14:backgroundMark x1="62500" y1="89453" x2="62891" y2="85547"/>
                        <a14:backgroundMark x1="64063" y1="51172" x2="62500" y2="48438"/>
                        <a14:backgroundMark x1="62109" y1="46875" x2="54297" y2="44531"/>
                        <a14:backgroundMark x1="64063" y1="48828" x2="52734" y2="43750"/>
                        <a14:backgroundMark x1="54297" y1="44531" x2="54688" y2="42578"/>
                        <a14:backgroundMark x1="54688" y1="43359" x2="54688" y2="43359"/>
                        <a14:backgroundMark x1="54688" y1="43750" x2="54688" y2="43750"/>
                        <a14:backgroundMark x1="55078" y1="43750" x2="55078" y2="43750"/>
                        <a14:backgroundMark x1="56641" y1="43359" x2="57422" y2="43359"/>
                        <a14:backgroundMark x1="58594" y1="42969" x2="58594" y2="42969"/>
                        <a14:backgroundMark x1="59375" y1="42969" x2="59375" y2="42969"/>
                        <a14:backgroundMark x1="60938" y1="43750" x2="60938" y2="43750"/>
                        <a14:backgroundMark x1="60938" y1="43750" x2="60938" y2="43750"/>
                        <a14:backgroundMark x1="61328" y1="45703" x2="61328" y2="45703"/>
                        <a14:backgroundMark x1="61719" y1="46484" x2="61719" y2="46484"/>
                        <a14:backgroundMark x1="61719" y1="45703" x2="61719" y2="45703"/>
                        <a14:backgroundMark x1="53516" y1="43359" x2="53516" y2="43359"/>
                        <a14:backgroundMark x1="53516" y1="43359" x2="53516" y2="43359"/>
                        <a14:backgroundMark x1="53516" y1="43359" x2="53516" y2="43359"/>
                        <a14:backgroundMark x1="47266" y1="38281" x2="47266" y2="38281"/>
                        <a14:backgroundMark x1="46094" y1="38281" x2="46094" y2="38281"/>
                        <a14:backgroundMark x1="46094" y1="38281" x2="44531" y2="37109"/>
                        <a14:backgroundMark x1="34375" y1="35156" x2="37500" y2="36719"/>
                      </a14:backgroundRemoval>
                    </a14:imgEffect>
                  </a14:imgLayer>
                </a14:imgProps>
              </a:ext>
            </a:extLst>
          </a:blip>
          <a:srcRect l="47392" t="3840" r="9472" b="53148"/>
          <a:stretch>
            <a:fillRect/>
          </a:stretch>
        </p:blipFill>
        <p:spPr>
          <a:xfrm>
            <a:off x="-252811" y="6527371"/>
            <a:ext cx="505623" cy="50418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C5B3A8E9-D566-F0FE-863A-92CA382B97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66" b="92188" l="6250" r="89844">
                        <a14:foregroundMark x1="38281" y1="92578" x2="45313" y2="92578"/>
                        <a14:foregroundMark x1="31250" y1="39844" x2="16406" y2="59375"/>
                        <a14:foregroundMark x1="16406" y1="59375" x2="6250" y2="87891"/>
                        <a14:foregroundMark x1="6250" y1="87891" x2="21094" y2="65625"/>
                        <a14:foregroundMark x1="21094" y1="65625" x2="21484" y2="55078"/>
                        <a14:backgroundMark x1="81250" y1="20313" x2="72656" y2="41016"/>
                        <a14:backgroundMark x1="72656" y1="41016" x2="57813" y2="20313"/>
                        <a14:backgroundMark x1="57813" y1="20313" x2="76953" y2="15625"/>
                        <a14:backgroundMark x1="82422" y1="8984" x2="81641" y2="19922"/>
                        <a14:backgroundMark x1="88281" y1="26563" x2="82422" y2="27734"/>
                        <a14:backgroundMark x1="67969" y1="42969" x2="58984" y2="35938"/>
                        <a14:backgroundMark x1="53516" y1="37109" x2="57813" y2="27344"/>
                        <a14:backgroundMark x1="56250" y1="24609" x2="46875" y2="24219"/>
                        <a14:backgroundMark x1="58984" y1="7813" x2="55859" y2="17578"/>
                        <a14:backgroundMark x1="55469" y1="20703" x2="51563" y2="7813"/>
                        <a14:backgroundMark x1="54688" y1="19922" x2="50000" y2="11719"/>
                        <a14:backgroundMark x1="55078" y1="20703" x2="48438" y2="22266"/>
                        <a14:backgroundMark x1="51563" y1="31641" x2="53125" y2="19922"/>
                        <a14:backgroundMark x1="56641" y1="40234" x2="55469" y2="29297"/>
                        <a14:backgroundMark x1="54688" y1="32422" x2="50000" y2="35938"/>
                        <a14:backgroundMark x1="87891" y1="20313" x2="89063" y2="30469"/>
                        <a14:backgroundMark x1="89844" y1="30469" x2="83984" y2="31250"/>
                        <a14:backgroundMark x1="86328" y1="40625" x2="84766" y2="31250"/>
                        <a14:backgroundMark x1="85547" y1="41016" x2="76172" y2="40625"/>
                        <a14:backgroundMark x1="81641" y1="43359" x2="61328" y2="28516"/>
                        <a14:backgroundMark x1="75000" y1="46094" x2="66016" y2="44141"/>
                        <a14:backgroundMark x1="71875" y1="48828" x2="64844" y2="42578"/>
                        <a14:backgroundMark x1="69141" y1="47266" x2="60156" y2="38672"/>
                        <a14:backgroundMark x1="67188" y1="46875" x2="63672" y2="43750"/>
                        <a14:backgroundMark x1="73438" y1="46875" x2="73828" y2="37500"/>
                        <a14:backgroundMark x1="82031" y1="42969" x2="71094" y2="36719"/>
                        <a14:backgroundMark x1="87109" y1="39844" x2="83203" y2="30078"/>
                        <a14:backgroundMark x1="77344" y1="42578" x2="73828" y2="37109"/>
                        <a14:backgroundMark x1="77344" y1="41406" x2="66016" y2="40234"/>
                        <a14:backgroundMark x1="67188" y1="42188" x2="53906" y2="39453"/>
                        <a14:backgroundMark x1="55078" y1="41016" x2="61328" y2="41406"/>
                        <a14:backgroundMark x1="52734" y1="38672" x2="51172" y2="37109"/>
                        <a14:backgroundMark x1="53125" y1="40234" x2="55078" y2="39453"/>
                        <a14:backgroundMark x1="54688" y1="21094" x2="47266" y2="20313"/>
                        <a14:backgroundMark x1="54297" y1="20313" x2="49219" y2="19531"/>
                        <a14:backgroundMark x1="48438" y1="21875" x2="51172" y2="29688"/>
                        <a14:backgroundMark x1="51563" y1="30469" x2="48047" y2="22656"/>
                        <a14:backgroundMark x1="50781" y1="30859" x2="44531" y2="22656"/>
                      </a14:backgroundRemoval>
                    </a14:imgEffect>
                  </a14:imgLayer>
                </a14:imgProps>
              </a:ext>
            </a:extLst>
          </a:blip>
          <a:srcRect l="8760" t="35019" r="29840" b="4164"/>
          <a:stretch>
            <a:fillRect/>
          </a:stretch>
        </p:blipFill>
        <p:spPr>
          <a:xfrm rot="20368896">
            <a:off x="11107" y="5966031"/>
            <a:ext cx="785434" cy="77797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86947927-B07F-2248-0A2A-6E63A0BE6F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744" b="89776" l="7668" r="90735">
                        <a14:foregroundMark x1="9585" y1="62780" x2="7668" y2="51438"/>
                        <a14:foregroundMark x1="7668" y1="51438" x2="9425" y2="49042"/>
                        <a14:foregroundMark x1="88978" y1="52396" x2="90735" y2="59585"/>
                      </a14:backgroundRemoval>
                    </a14:imgEffect>
                  </a14:imgLayer>
                </a14:imgProps>
              </a:ext>
            </a:extLst>
          </a:blip>
          <a:srcRect l="-6120" t="-8227" r="-4346" b="3130"/>
          <a:stretch>
            <a:fillRect/>
          </a:stretch>
        </p:blipFill>
        <p:spPr>
          <a:xfrm>
            <a:off x="663341" y="5387274"/>
            <a:ext cx="837676" cy="796985"/>
          </a:xfrm>
          <a:prstGeom prst="ellipse">
            <a:avLst/>
          </a:prstGeom>
          <a:ln w="381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10405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683C8-D1BC-A01E-3B69-CB8E52264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Arbeitsprozess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4DEF38C-EC1B-B0D2-7207-41E65EF2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9752" y="1046648"/>
            <a:ext cx="5272871" cy="312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856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6DC47-6023-A1F1-A2E2-335662FF4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  <p:pic>
        <p:nvPicPr>
          <p:cNvPr id="7" name="Inhaltsplatzhalter 6" descr="Ein Bild, das Text, Screenshot, Multimedia-Software, Software enthält.&#10;&#10;KI-generierte Inhalte können fehlerhaft sein.">
            <a:extLst>
              <a:ext uri="{FF2B5EF4-FFF2-40B4-BE49-F238E27FC236}">
                <a16:creationId xmlns:a16="http://schemas.microsoft.com/office/drawing/2014/main" id="{E0F7B798-F816-A970-5E71-EB5DB75ADE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62040" y="635556"/>
            <a:ext cx="1695618" cy="5595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15BB306-6F6E-B8CB-088A-DC0C5474129A}"/>
              </a:ext>
            </a:extLst>
          </p:cNvPr>
          <p:cNvSpPr txBox="1"/>
          <p:nvPr/>
        </p:nvSpPr>
        <p:spPr>
          <a:xfrm>
            <a:off x="849086" y="1719943"/>
            <a:ext cx="8120742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🧪 Testfälle T-001 bis T-006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✔ Funktionen vollständig getestet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📊 Score &amp; Level validiert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💀 Game Over geprüft</a:t>
            </a:r>
            <a:endParaRPr lang="de-DE" dirty="0"/>
          </a:p>
          <a:p>
            <a:r>
              <a:rPr lang="de-DE" sz="3200" dirty="0">
                <a:latin typeface="Arial"/>
                <a:cs typeface="Arial"/>
              </a:rPr>
              <a:t>•</a:t>
            </a:r>
            <a:r>
              <a:rPr lang="de-DE" sz="3200" dirty="0">
                <a:ea typeface="+mn-lt"/>
                <a:cs typeface="+mn-lt"/>
              </a:rPr>
              <a:t>✅ Ergebnis: System funktioniert korrekt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1186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53BFB-E514-E163-F22C-F7393BFB2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Tests / Qualität</a:t>
            </a:r>
          </a:p>
        </p:txBody>
      </p:sp>
    </p:spTree>
    <p:extLst>
      <p:ext uri="{BB962C8B-B14F-4D97-AF65-F5344CB8AC3E}">
        <p14:creationId xmlns:p14="http://schemas.microsoft.com/office/powerpoint/2010/main" val="3504223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02378-A63C-1DBF-2FE7-DC829BE3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Herausforderungen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0D3B30-F19C-B8FB-0D81-5AA02BEEF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74956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349FA-CB35-9A54-EA61-75728D6E5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E89A13-7FD8-0AB4-FD42-107AD1713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9952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4BC2B42-B574-4703-8412-509D74406673}">
  <we:reference id="WA200005566" version="3.0.0.2" store="Omex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</Words>
  <Application>Microsoft Office PowerPoint</Application>
  <PresentationFormat>Breitbild</PresentationFormat>
  <Paragraphs>68</Paragraphs>
  <Slides>15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Castellar</vt:lpstr>
      <vt:lpstr>Office</vt:lpstr>
      <vt:lpstr>Top Down Shooter</vt:lpstr>
      <vt:lpstr>PowerPoint-Präsentation</vt:lpstr>
      <vt:lpstr>Zuständigkeiten</vt:lpstr>
      <vt:lpstr>PowerPoint-Präsentation</vt:lpstr>
      <vt:lpstr>Projektübersicht und Aufgaben</vt:lpstr>
      <vt:lpstr>Ressource</vt:lpstr>
      <vt:lpstr>Risikoanalyse</vt:lpstr>
      <vt:lpstr>Spielkonzept</vt:lpstr>
      <vt:lpstr>Anforderungen (Funktional)</vt:lpstr>
      <vt:lpstr>Anforderungen (Nicht-Funktional)</vt:lpstr>
      <vt:lpstr>Arbeitsprozess</vt:lpstr>
      <vt:lpstr>Tests / Qualität</vt:lpstr>
      <vt:lpstr>Tests / Qualität</vt:lpstr>
      <vt:lpstr>Herausforderungen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Phengrasamy</dc:creator>
  <cp:lastModifiedBy>Benjamin Phengrasamy</cp:lastModifiedBy>
  <cp:revision>43</cp:revision>
  <dcterms:created xsi:type="dcterms:W3CDTF">2026-03-18T16:07:12Z</dcterms:created>
  <dcterms:modified xsi:type="dcterms:W3CDTF">2026-03-22T18:36:52Z</dcterms:modified>
</cp:coreProperties>
</file>