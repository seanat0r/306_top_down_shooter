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0" r:id="rId2"/>
    <p:sldId id="261" r:id="rId3"/>
    <p:sldId id="262" r:id="rId4"/>
    <p:sldId id="270" r:id="rId5"/>
    <p:sldId id="274" r:id="rId6"/>
    <p:sldId id="269" r:id="rId7"/>
    <p:sldId id="271" r:id="rId8"/>
    <p:sldId id="272" r:id="rId9"/>
    <p:sldId id="263" r:id="rId10"/>
    <p:sldId id="265" r:id="rId11"/>
    <p:sldId id="266" r:id="rId12"/>
    <p:sldId id="273" r:id="rId13"/>
    <p:sldId id="267" r:id="rId14"/>
    <p:sldId id="268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400C"/>
    <a:srgbClr val="C363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1" autoAdjust="0"/>
    <p:restoredTop sz="94660"/>
  </p:normalViewPr>
  <p:slideViewPr>
    <p:cSldViewPr snapToGrid="0">
      <p:cViewPr varScale="1">
        <p:scale>
          <a:sx n="62" d="100"/>
          <a:sy n="62" d="100"/>
        </p:scale>
        <p:origin x="94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6BD88C-470E-47D2-96C4-54CA2983C41B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19F22-B9E6-4905-B045-44F9B200290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268640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6CF03-0E64-4298-8EE1-46C2A95A1B60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8292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A8916E-C2D5-9229-06AF-A2493117C7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9BCAE6-2300-EF57-2D49-F7E30510B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DABC09-5480-A0C3-109E-FC8FCEE8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E96165-50BF-2662-576E-A4C53B61C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A9A30F-13FD-8AB6-F983-18DE3284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83951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7DA706-6C99-61EA-453B-DD4B87876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619B04-7B6A-0F63-1EC1-EA6A25546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2B11881-D2D7-467D-6EB7-199CBBA72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6A2726-2ABD-1EFF-5711-079235FC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F4748E-07C8-086D-5CFF-5FE32E0C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1317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ECB2B4-AB08-C0D8-5D2F-4237768E5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3F8F8B-AD74-756B-D682-82F74EE35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359EC1-EF40-ED14-AF0D-B381403A3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FCB8BF-4FBC-9DEA-A06D-7CA48D167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350432-D9C0-E1C6-9C71-31E5F2F2B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53389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D2995A-123C-F619-3877-E1387E74F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A782C1-F7FC-6C8D-E025-9EAE0113A1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7CB0A2-3E84-629A-C587-7F8385A85F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820CFA-BEB2-1F59-F174-84677D287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9CE0046-E31C-AFDF-FDCA-028E619C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6171EE-6560-5289-900F-9E5C4B741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57453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DEAADF-C1F1-4425-6943-925B138B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31A003-0B69-0718-C05A-24B61A03D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B3D092F-1B7C-8CF0-DBF9-B55977F391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4AD466-4ACE-CC4E-722A-A633ADF0F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BBEEF5-E28C-BEBC-A856-295BA20BE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5339B1D-EAF7-5D06-C23E-86357B002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30AC63A-3F98-F273-A11D-5B2DFAF2B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1C20243-881B-3B06-5813-057CA2D01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58398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03F61-8C0C-871A-2D9E-13EC1FF5D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F470B2-2831-CC56-C5A5-7F8A74ADA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AEBC57C-B268-AB9B-1A50-5C3A3B1DE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124F87-A218-EC31-2D40-07567A87F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814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6323388-03CE-9942-7C00-6CAA94492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D52C2FC-358C-F39B-420A-E64772935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242429-07B4-9054-A986-064C76677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099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FE6464-569B-937B-9EC0-9A696D4F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E43A510-9470-AD4A-8303-0AEFC7FD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EA66C98-2D8D-58CB-6FCB-AE666769AA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D8D50C-0DF1-5B59-38DB-AA6D5DF2F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65B5FB6-459A-A8BC-8D42-E0389E70E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5171F3F-1EA7-F22D-68A8-BA7BE9ED5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6129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8F51C3-0FEC-9612-5EEA-24C90449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054BE53-1576-25D8-C395-0E2EC9038A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96A0302-FF86-B672-05BA-3576D41C5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45388A-45CD-8AFA-BC9D-DE595675F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BB97B1B-6395-D4CD-3262-11264840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D370361-9395-AC6F-3DF7-97B04CA7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99263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22E2F6-5270-6CF4-4E0A-969F2C59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1BFDFFA-56F4-5DF5-06D7-83B9D9DA9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BEAF86-3ED3-77C7-7269-2CDD81512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94F7CC-C291-E6D6-83AB-13807348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56F59D0-1706-FFA6-3CF6-EE2C6F93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7638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9782BEB-40ED-07BE-3EF2-B69D545A28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E0EFF8-D9D1-FCD6-7226-0BA0ADB03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556E8D-4118-7FA1-A497-5978C197A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0DAB3F-EAEA-FC1E-AFC3-342EAE51D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3439BC-F0A6-4FE6-6375-F57B553F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2364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3FE26EB-ACA1-350D-3821-3C8C1F9D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79152B3-02BB-CB5B-1FD5-228D96E60B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9854D6-F36D-D103-07D1-D90CE69BD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89E16-D1EE-4141-BF76-FB34F49BA178}" type="datetimeFigureOut">
              <a:rPr lang="de-CH" smtClean="0"/>
              <a:t>21.03.2026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F7F26B-AB76-8BBB-9314-D30D546A9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49FFAA-E38A-FC79-4088-FCB9C76C6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8469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18" Type="http://schemas.microsoft.com/office/2007/relationships/hdphoto" Target="../media/hdphoto8.wdp"/><Relationship Id="rId3" Type="http://schemas.microsoft.com/office/2007/relationships/hdphoto" Target="../media/hdphoto1.wdp"/><Relationship Id="rId21" Type="http://schemas.openxmlformats.org/officeDocument/2006/relationships/image" Target="../media/image15.png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openxmlformats.org/officeDocument/2006/relationships/image" Target="../media/image13.png"/><Relationship Id="rId2" Type="http://schemas.openxmlformats.org/officeDocument/2006/relationships/image" Target="../media/image5.png"/><Relationship Id="rId16" Type="http://schemas.microsoft.com/office/2007/relationships/hdphoto" Target="../media/hdphoto7.wdp"/><Relationship Id="rId20" Type="http://schemas.microsoft.com/office/2007/relationships/hdphoto" Target="../media/hdphoto9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microsoft.com/office/2007/relationships/hdphoto" Target="../media/hdphoto2.wdp"/><Relationship Id="rId15" Type="http://schemas.openxmlformats.org/officeDocument/2006/relationships/image" Target="../media/image12.png"/><Relationship Id="rId10" Type="http://schemas.openxmlformats.org/officeDocument/2006/relationships/image" Target="../media/image9.png"/><Relationship Id="rId19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microsoft.com/office/2007/relationships/hdphoto" Target="../media/hdphoto4.wdp"/><Relationship Id="rId1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9.png"/><Relationship Id="rId18" Type="http://schemas.openxmlformats.org/officeDocument/2006/relationships/image" Target="../media/image12.png"/><Relationship Id="rId3" Type="http://schemas.microsoft.com/office/2007/relationships/hdphoto" Target="../media/hdphoto9.wdp"/><Relationship Id="rId21" Type="http://schemas.microsoft.com/office/2007/relationships/hdphoto" Target="../media/hdphoto8.wdp"/><Relationship Id="rId7" Type="http://schemas.openxmlformats.org/officeDocument/2006/relationships/image" Target="../media/image6.png"/><Relationship Id="rId12" Type="http://schemas.microsoft.com/office/2007/relationships/hdphoto" Target="../media/hdphoto4.wdp"/><Relationship Id="rId17" Type="http://schemas.microsoft.com/office/2007/relationships/hdphoto" Target="../media/hdphoto6.wdp"/><Relationship Id="rId2" Type="http://schemas.openxmlformats.org/officeDocument/2006/relationships/image" Target="../media/image14.png"/><Relationship Id="rId16" Type="http://schemas.openxmlformats.org/officeDocument/2006/relationships/image" Target="../media/image11.png"/><Relationship Id="rId20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5" Type="http://schemas.microsoft.com/office/2007/relationships/hdphoto" Target="../media/hdphoto5.wdp"/><Relationship Id="rId10" Type="http://schemas.microsoft.com/office/2007/relationships/hdphoto" Target="../media/hdphoto3.wdp"/><Relationship Id="rId19" Type="http://schemas.microsoft.com/office/2007/relationships/hdphoto" Target="../media/hdphoto7.wdp"/><Relationship Id="rId4" Type="http://schemas.openxmlformats.org/officeDocument/2006/relationships/image" Target="../media/image15.png"/><Relationship Id="rId9" Type="http://schemas.openxmlformats.org/officeDocument/2006/relationships/image" Target="../media/image7.png"/><Relationship Id="rId1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55303-22EA-9161-49FE-2860F26799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Top Down Shooter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EFA9565-ADE1-3124-10C9-267E889260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391993"/>
          </a:xfrm>
        </p:spPr>
        <p:txBody>
          <a:bodyPr>
            <a:normAutofit lnSpcReduction="10000"/>
          </a:bodyPr>
          <a:lstStyle/>
          <a:p>
            <a:r>
              <a:rPr lang="de-CH" dirty="0"/>
              <a:t>Modul 306A</a:t>
            </a:r>
            <a:br>
              <a:rPr lang="de-CH" dirty="0"/>
            </a:br>
            <a:br>
              <a:rPr lang="de-CH" dirty="0"/>
            </a:br>
            <a:br>
              <a:rPr lang="de-CH" dirty="0"/>
            </a:b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0655BD4-888F-694C-A348-3857B314A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167" y="3509963"/>
            <a:ext cx="3569284" cy="17846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4BEF8E9F-7DBE-610A-0C04-A5FA66CC0B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474" y="3602037"/>
            <a:ext cx="2961995" cy="169256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D418988-2F9C-7F1F-1724-3E6084201A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0772" y="725463"/>
            <a:ext cx="1687746" cy="15907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5DA14A6-23C6-F23C-789B-712CF7494C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474" y="327013"/>
            <a:ext cx="3964237" cy="208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484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llipse 15">
            <a:extLst>
              <a:ext uri="{FF2B5EF4-FFF2-40B4-BE49-F238E27FC236}">
                <a16:creationId xmlns:a16="http://schemas.microsoft.com/office/drawing/2014/main" id="{EF4EAA89-2562-F541-5E43-8765AD5BDA2A}"/>
              </a:ext>
            </a:extLst>
          </p:cNvPr>
          <p:cNvSpPr>
            <a:spLocks/>
          </p:cNvSpPr>
          <p:nvPr/>
        </p:nvSpPr>
        <p:spPr>
          <a:xfrm>
            <a:off x="4054662" y="1073645"/>
            <a:ext cx="4320000" cy="43200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87EF0D-8196-CE23-62DF-B1C2F495C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156" y="438378"/>
            <a:ext cx="2620617" cy="4561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dirty="0"/>
              <a:t>Inhalt</a:t>
            </a:r>
          </a:p>
          <a:p>
            <a:endParaRPr lang="de-CH" dirty="0"/>
          </a:p>
          <a:p>
            <a:endParaRPr lang="de-CH" dirty="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2FB9D135-6C9B-9C4D-FE88-51EB831A4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83571" l="8462" r="88462">
                        <a14:foregroundMark x1="20385" y1="10357" x2="26538" y2="15000"/>
                        <a14:foregroundMark x1="12308" y1="22143" x2="11923" y2="26071"/>
                        <a14:foregroundMark x1="8846" y1="21786" x2="8462" y2="18929"/>
                        <a14:foregroundMark x1="69615" y1="81786" x2="76923" y2="83214"/>
                        <a14:foregroundMark x1="86538" y1="65357" x2="88846" y2="71429"/>
                        <a14:foregroundMark x1="36923" y1="83571" x2="36154" y2="82500"/>
                      </a14:backgroundRemoval>
                    </a14:imgEffect>
                  </a14:imgLayer>
                </a14:imgProps>
              </a:ext>
            </a:extLst>
          </a:blip>
          <a:srcRect l="-8052" t="-8124" r="-3544" b="-769"/>
          <a:stretch>
            <a:fillRect/>
          </a:stretch>
        </p:blipFill>
        <p:spPr>
          <a:xfrm>
            <a:off x="5337594" y="4418060"/>
            <a:ext cx="75840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9B5C33AE-D726-D2D0-EB89-C78359847A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412" b="95000" l="52955" r="96136">
                        <a14:foregroundMark x1="71364" y1="51176" x2="70000" y2="53824"/>
                        <a14:foregroundMark x1="77955" y1="55588" x2="65000" y2="47353"/>
                        <a14:foregroundMark x1="65000" y1="47353" x2="74091" y2="57941"/>
                        <a14:foregroundMark x1="74091" y1="57941" x2="76818" y2="48824"/>
                        <a14:foregroundMark x1="77045" y1="49118" x2="72273" y2="43824"/>
                        <a14:foregroundMark x1="67045" y1="57353" x2="76818" y2="58824"/>
                        <a14:foregroundMark x1="63864" y1="70294" x2="69318" y2="66471"/>
                        <a14:foregroundMark x1="83409" y1="64412" x2="78864" y2="64706"/>
                        <a14:foregroundMark x1="77955" y1="89118" x2="85000" y2="88824"/>
                        <a14:foregroundMark x1="69318" y1="91176" x2="60455" y2="90588"/>
                        <a14:foregroundMark x1="57955" y1="92941" x2="56818" y2="95294"/>
                        <a14:foregroundMark x1="87045" y1="57941" x2="87045" y2="55882"/>
                        <a14:foregroundMark x1="94091" y1="9412" x2="95227" y2="12059"/>
                        <a14:foregroundMark x1="96136" y1="24412" x2="96136" y2="27353"/>
                        <a14:foregroundMark x1="88182" y1="45882" x2="89773" y2="32059"/>
                        <a14:backgroundMark x1="77955" y1="62941" x2="78636" y2="62647"/>
                        <a14:backgroundMark x1="86591" y1="56471" x2="86818" y2="55294"/>
                        <a14:backgroundMark x1="87273" y1="47941" x2="87273" y2="48529"/>
                      </a14:backgroundRemoval>
                    </a14:imgEffect>
                  </a14:imgLayer>
                </a14:imgProps>
              </a:ext>
            </a:extLst>
          </a:blip>
          <a:srcRect l="33123" t="5090" r="-10312"/>
          <a:stretch>
            <a:fillRect/>
          </a:stretch>
        </p:blipFill>
        <p:spPr>
          <a:xfrm>
            <a:off x="4461000" y="3683139"/>
            <a:ext cx="787927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4E804DB5-87C4-C243-D734-348AAFAB04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7244324" y="3683140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4E5DA23A-AC70-F801-DD1E-46F50AF5CFF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16169" y="1183712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F2FE080-784B-B965-ECDF-FEE3196B79A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2003" t="-12660" r="-7994" b="-13452"/>
          <a:stretch>
            <a:fillRect/>
          </a:stretch>
        </p:blipFill>
        <p:spPr>
          <a:xfrm>
            <a:off x="6856434" y="1612319"/>
            <a:ext cx="82152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190F9A49-F36B-BA33-D2A8-48FB4A3F036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167" l="9667" r="90000">
                        <a14:foregroundMark x1="18667" y1="62333" x2="38833" y2="52500"/>
                        <a14:foregroundMark x1="38833" y1="52500" x2="41500" y2="52000"/>
                        <a14:foregroundMark x1="26500" y1="55333" x2="18333" y2="57000"/>
                        <a14:foregroundMark x1="29167" y1="73167" x2="42500" y2="78833"/>
                        <a14:foregroundMark x1="42500" y1="78833" x2="44167" y2="78500"/>
                        <a14:foregroundMark x1="34333" y1="73000" x2="27500" y2="80000"/>
                        <a14:foregroundMark x1="9833" y1="52167" x2="9833" y2="55667"/>
                        <a14:foregroundMark x1="58000" y1="21667" x2="32833" y2="20167"/>
                        <a14:foregroundMark x1="58667" y1="43667" x2="78000" y2="52500"/>
                        <a14:foregroundMark x1="71500" y1="74167" x2="62833" y2="73833"/>
                        <a14:foregroundMark x1="62833" y1="73833" x2="53667" y2="70833"/>
                        <a14:foregroundMark x1="53667" y1="70833" x2="57667" y2="63333"/>
                        <a14:foregroundMark x1="57667" y1="63333" x2="66333" y2="67667"/>
                        <a14:foregroundMark x1="66333" y1="67667" x2="69667" y2="68333"/>
                        <a14:foregroundMark x1="54333" y1="63000" x2="56167" y2="61167"/>
                        <a14:foregroundMark x1="31833" y1="26000" x2="31167" y2="19333"/>
                        <a14:foregroundMark x1="24667" y1="90167" x2="26000" y2="90000"/>
                        <a14:foregroundMark x1="11000" y1="56167" x2="9833" y2="52833"/>
                        <a14:backgroundMark x1="48167" y1="54667" x2="47667" y2="54000"/>
                        <a14:backgroundMark x1="9333" y1="56833" x2="9833" y2="52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07447" y="2632015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1D93F98D-5577-E276-A05E-5D544A42781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6385081" y="4398371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8F292C12-FC58-A82B-90D8-FCBE88E34A2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19010" y1="45367" x2="27476" y2="43450"/>
                        <a14:foregroundMark x1="20447" y1="27796" x2="23003" y2="29553"/>
                        <a14:foregroundMark x1="31150" y1="12300" x2="33067" y2="19169"/>
                        <a14:foregroundMark x1="69169" y1="14217" x2="66773" y2="19489"/>
                        <a14:foregroundMark x1="74281" y1="30671" x2="79553" y2="28115"/>
                        <a14:foregroundMark x1="74760" y1="43610" x2="79872" y2="45048"/>
                        <a14:foregroundMark x1="55272" y1="86741" x2="49201" y2="8754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71672" y="1642955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BCC94B5-9F72-81B7-0AFB-F9C5A996F50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t="-12517" b="-35120"/>
          <a:stretch>
            <a:fillRect/>
          </a:stretch>
        </p:blipFill>
        <p:spPr>
          <a:xfrm>
            <a:off x="4152391" y="2632015"/>
            <a:ext cx="790089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D945EF9-E10B-B28C-0F67-9EB9B10A702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5978666" y="2969757"/>
            <a:ext cx="529281" cy="527776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1FF6908A-A34E-73E4-5EF1-29A923C81B7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6269918" y="2393454"/>
            <a:ext cx="822183" cy="814378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55BE3D22-11B8-2737-9E57-9AF3C0D4A7F8}"/>
              </a:ext>
            </a:extLst>
          </p:cNvPr>
          <p:cNvSpPr txBox="1"/>
          <p:nvPr/>
        </p:nvSpPr>
        <p:spPr>
          <a:xfrm>
            <a:off x="4795242" y="566163"/>
            <a:ext cx="2716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Rollenzuteilung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447B6570-3694-1658-D5A5-734D06CAB08F}"/>
              </a:ext>
            </a:extLst>
          </p:cNvPr>
          <p:cNvSpPr txBox="1"/>
          <p:nvPr/>
        </p:nvSpPr>
        <p:spPr>
          <a:xfrm>
            <a:off x="1685925" y="2853200"/>
            <a:ext cx="2215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Anforderung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6BB4331-00A6-52DD-CE3B-B41980AF6C55}"/>
              </a:ext>
            </a:extLst>
          </p:cNvPr>
          <p:cNvSpPr txBox="1"/>
          <p:nvPr/>
        </p:nvSpPr>
        <p:spPr>
          <a:xfrm>
            <a:off x="8022963" y="1581583"/>
            <a:ext cx="19374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Ressourcen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ADC83995-5F72-6DE6-4499-4755D22F9164}"/>
              </a:ext>
            </a:extLst>
          </p:cNvPr>
          <p:cNvSpPr txBox="1"/>
          <p:nvPr/>
        </p:nvSpPr>
        <p:spPr>
          <a:xfrm>
            <a:off x="8549270" y="2853200"/>
            <a:ext cx="2346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 err="1">
                <a:latin typeface="Castellar" panose="020A0402060406010301" pitchFamily="18" charset="0"/>
              </a:rPr>
              <a:t>RisikoAnalyse</a:t>
            </a:r>
            <a:endParaRPr lang="de-CH" dirty="0">
              <a:latin typeface="Castellar" panose="020A0402060406010301" pitchFamily="18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C26EF30-ED43-37F8-FE22-9ED1C7C07D16}"/>
              </a:ext>
            </a:extLst>
          </p:cNvPr>
          <p:cNvSpPr txBox="1"/>
          <p:nvPr/>
        </p:nvSpPr>
        <p:spPr>
          <a:xfrm>
            <a:off x="918278" y="4046549"/>
            <a:ext cx="3346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Testen und Probieren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22F55BB3-685E-CDCD-80E9-97181BF81882}"/>
              </a:ext>
            </a:extLst>
          </p:cNvPr>
          <p:cNvSpPr txBox="1"/>
          <p:nvPr/>
        </p:nvSpPr>
        <p:spPr>
          <a:xfrm>
            <a:off x="3541700" y="5239898"/>
            <a:ext cx="179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Umsetzung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67890207-0C8F-E308-DC46-27EF8F727741}"/>
              </a:ext>
            </a:extLst>
          </p:cNvPr>
          <p:cNvSpPr txBox="1"/>
          <p:nvPr/>
        </p:nvSpPr>
        <p:spPr>
          <a:xfrm>
            <a:off x="8304432" y="4046549"/>
            <a:ext cx="1174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Genre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79AFBFC-B901-6279-29E6-8445C85F3BBA}"/>
              </a:ext>
            </a:extLst>
          </p:cNvPr>
          <p:cNvSpPr txBox="1"/>
          <p:nvPr/>
        </p:nvSpPr>
        <p:spPr>
          <a:xfrm>
            <a:off x="2335556" y="1581583"/>
            <a:ext cx="2003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Frage Runde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86BB4331-00A6-52DD-CE3B-B41980AF6C55}"/>
              </a:ext>
            </a:extLst>
          </p:cNvPr>
          <p:cNvSpPr txBox="1"/>
          <p:nvPr/>
        </p:nvSpPr>
        <p:spPr>
          <a:xfrm>
            <a:off x="7185515" y="5228514"/>
            <a:ext cx="19374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Konzept</a:t>
            </a:r>
          </a:p>
        </p:txBody>
      </p:sp>
    </p:spTree>
    <p:extLst>
      <p:ext uri="{BB962C8B-B14F-4D97-AF65-F5344CB8AC3E}">
        <p14:creationId xmlns:p14="http://schemas.microsoft.com/office/powerpoint/2010/main" val="344326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llipse 46">
            <a:extLst>
              <a:ext uri="{FF2B5EF4-FFF2-40B4-BE49-F238E27FC236}">
                <a16:creationId xmlns:a16="http://schemas.microsoft.com/office/drawing/2014/main" id="{86600730-EDFE-FF92-811C-91A8169AB9B4}"/>
              </a:ext>
            </a:extLst>
          </p:cNvPr>
          <p:cNvSpPr>
            <a:spLocks/>
          </p:cNvSpPr>
          <p:nvPr/>
        </p:nvSpPr>
        <p:spPr>
          <a:xfrm>
            <a:off x="-2169465" y="4675552"/>
            <a:ext cx="4320000" cy="43200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A71EDF7-F00D-F177-CDF3-FB621D8E8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Zuständigkeiten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EC7D2A82-F9C5-DB0B-E323-53B172ADB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929059"/>
              </p:ext>
            </p:extLst>
          </p:nvPr>
        </p:nvGraphicFramePr>
        <p:xfrm>
          <a:off x="1638300" y="1577629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41984314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83595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Auftragnehmer / -geber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Begriff / Abkürzung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147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Stefanie Gerber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PL (Projektleitung)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146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Christophe Grädel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DEV (Development)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8811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Benjamin Phengrasamy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BA (Business Analyst)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631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Sujanthan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Sutheralingam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QA (Qualitätssicherung)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16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Michal </a:t>
                      </a:r>
                      <a:r>
                        <a:rPr lang="de-CH" dirty="0" err="1"/>
                        <a:t>Durik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Auftraggeber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5496979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15E61FCA-B6A6-C0DF-EB8F-64AE98A63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90755" y="6567428"/>
            <a:ext cx="597693" cy="59599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13CC717-A797-02D5-8E98-09FA294042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-3530" y="5933090"/>
            <a:ext cx="928455" cy="919641"/>
          </a:xfrm>
          <a:prstGeom prst="rect">
            <a:avLst/>
          </a:prstGeom>
        </p:spPr>
      </p:pic>
      <p:pic>
        <p:nvPicPr>
          <p:cNvPr id="38" name="Grafik 37">
            <a:extLst>
              <a:ext uri="{FF2B5EF4-FFF2-40B4-BE49-F238E27FC236}">
                <a16:creationId xmlns:a16="http://schemas.microsoft.com/office/drawing/2014/main" id="{314F7E7B-8E3C-E721-93FC-DA620D70A9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83571" l="8462" r="88462">
                        <a14:foregroundMark x1="20385" y1="10357" x2="26538" y2="15000"/>
                        <a14:foregroundMark x1="12308" y1="22143" x2="11923" y2="26071"/>
                        <a14:foregroundMark x1="8846" y1="21786" x2="8462" y2="18929"/>
                        <a14:foregroundMark x1="69615" y1="81786" x2="76923" y2="83214"/>
                        <a14:foregroundMark x1="86538" y1="65357" x2="88846" y2="71429"/>
                        <a14:foregroundMark x1="36923" y1="83571" x2="36154" y2="82500"/>
                      </a14:backgroundRemoval>
                    </a14:imgEffect>
                  </a14:imgLayer>
                </a14:imgProps>
              </a:ext>
            </a:extLst>
          </a:blip>
          <a:srcRect l="-8052" t="-8124" r="-3544" b="-769"/>
          <a:stretch>
            <a:fillRect/>
          </a:stretch>
        </p:blipFill>
        <p:spPr>
          <a:xfrm>
            <a:off x="1379859" y="10900217"/>
            <a:ext cx="75840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8230DA0B-7651-0A25-E0DA-F5353BD991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412" b="95000" l="52955" r="96136">
                        <a14:foregroundMark x1="71364" y1="51176" x2="70000" y2="53824"/>
                        <a14:foregroundMark x1="77955" y1="55588" x2="65000" y2="47353"/>
                        <a14:foregroundMark x1="65000" y1="47353" x2="74091" y2="57941"/>
                        <a14:foregroundMark x1="74091" y1="57941" x2="76818" y2="48824"/>
                        <a14:foregroundMark x1="77045" y1="49118" x2="72273" y2="43824"/>
                        <a14:foregroundMark x1="67045" y1="57353" x2="76818" y2="58824"/>
                        <a14:foregroundMark x1="63864" y1="70294" x2="69318" y2="66471"/>
                        <a14:foregroundMark x1="83409" y1="64412" x2="78864" y2="64706"/>
                        <a14:foregroundMark x1="77955" y1="89118" x2="85000" y2="88824"/>
                        <a14:foregroundMark x1="69318" y1="91176" x2="60455" y2="90588"/>
                        <a14:foregroundMark x1="57955" y1="92941" x2="56818" y2="95294"/>
                        <a14:foregroundMark x1="87045" y1="57941" x2="87045" y2="55882"/>
                        <a14:foregroundMark x1="94091" y1="9412" x2="95227" y2="12059"/>
                        <a14:foregroundMark x1="96136" y1="24412" x2="96136" y2="27353"/>
                        <a14:foregroundMark x1="88182" y1="45882" x2="89773" y2="32059"/>
                        <a14:backgroundMark x1="77955" y1="62941" x2="78636" y2="62647"/>
                        <a14:backgroundMark x1="86591" y1="56471" x2="86818" y2="55294"/>
                        <a14:backgroundMark x1="87273" y1="47941" x2="87273" y2="48529"/>
                      </a14:backgroundRemoval>
                    </a14:imgEffect>
                  </a14:imgLayer>
                </a14:imgProps>
              </a:ext>
            </a:extLst>
          </a:blip>
          <a:srcRect l="33123" t="5090" r="-10312"/>
          <a:stretch>
            <a:fillRect/>
          </a:stretch>
        </p:blipFill>
        <p:spPr>
          <a:xfrm>
            <a:off x="1400654" y="11714634"/>
            <a:ext cx="787927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B341DD7E-6BA8-8BC0-D3F4-13A7EC9C74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1221037" y="9025034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820A3C84-FE98-AEFF-E3DE-3560315E3B4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3118" y="5199891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  <p:pic>
        <p:nvPicPr>
          <p:cNvPr id="42" name="Grafik 41">
            <a:extLst>
              <a:ext uri="{FF2B5EF4-FFF2-40B4-BE49-F238E27FC236}">
                <a16:creationId xmlns:a16="http://schemas.microsoft.com/office/drawing/2014/main" id="{4F19621D-788B-4A0C-3A28-A2DC34F1FB6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2003" t="-12660" r="-7994" b="-13452"/>
          <a:stretch>
            <a:fillRect/>
          </a:stretch>
        </p:blipFill>
        <p:spPr>
          <a:xfrm>
            <a:off x="1227537" y="7163422"/>
            <a:ext cx="82152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5B6698EC-CA13-11DB-68D0-2CD4A80C804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167" l="9667" r="90000">
                        <a14:foregroundMark x1="18667" y1="62333" x2="38833" y2="52500"/>
                        <a14:foregroundMark x1="38833" y1="52500" x2="41500" y2="52000"/>
                        <a14:foregroundMark x1="26500" y1="55333" x2="18333" y2="57000"/>
                        <a14:foregroundMark x1="29167" y1="73167" x2="42500" y2="78833"/>
                        <a14:foregroundMark x1="42500" y1="78833" x2="44167" y2="78500"/>
                        <a14:foregroundMark x1="34333" y1="73000" x2="27500" y2="80000"/>
                        <a14:foregroundMark x1="9833" y1="52167" x2="9833" y2="55667"/>
                        <a14:foregroundMark x1="58000" y1="21667" x2="32833" y2="20167"/>
                        <a14:foregroundMark x1="58667" y1="43667" x2="78000" y2="52500"/>
                        <a14:foregroundMark x1="71500" y1="74167" x2="62833" y2="73833"/>
                        <a14:foregroundMark x1="62833" y1="73833" x2="53667" y2="70833"/>
                        <a14:foregroundMark x1="53667" y1="70833" x2="57667" y2="63333"/>
                        <a14:foregroundMark x1="57667" y1="63333" x2="66333" y2="67667"/>
                        <a14:foregroundMark x1="66333" y1="67667" x2="69667" y2="68333"/>
                        <a14:foregroundMark x1="54333" y1="63000" x2="56167" y2="61167"/>
                        <a14:foregroundMark x1="31833" y1="26000" x2="31167" y2="19333"/>
                        <a14:foregroundMark x1="24667" y1="90167" x2="26000" y2="90000"/>
                        <a14:foregroundMark x1="11000" y1="56167" x2="9833" y2="52833"/>
                        <a14:backgroundMark x1="48167" y1="54667" x2="47667" y2="54000"/>
                        <a14:backgroundMark x1="9333" y1="56833" x2="9833" y2="52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27537" y="8066625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4" name="Grafik 43">
            <a:extLst>
              <a:ext uri="{FF2B5EF4-FFF2-40B4-BE49-F238E27FC236}">
                <a16:creationId xmlns:a16="http://schemas.microsoft.com/office/drawing/2014/main" id="{3FB4F74D-0FE6-6675-193C-19FB274095F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1340224" y="9952859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C2DDFC27-A58E-0B18-E986-D93F8EAAB20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>
                        <a14:foregroundMark x1="19010" y1="45367" x2="27476" y2="43450"/>
                        <a14:foregroundMark x1="20447" y1="27796" x2="23003" y2="29553"/>
                        <a14:foregroundMark x1="31150" y1="12300" x2="33067" y2="19169"/>
                        <a14:foregroundMark x1="69169" y1="14217" x2="66773" y2="19489"/>
                        <a14:foregroundMark x1="74281" y1="30671" x2="79553" y2="28115"/>
                        <a14:foregroundMark x1="74760" y1="43610" x2="79872" y2="45048"/>
                        <a14:foregroundMark x1="55272" y1="86741" x2="49201" y2="8754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41280" y="13645294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6" name="Grafik 45">
            <a:extLst>
              <a:ext uri="{FF2B5EF4-FFF2-40B4-BE49-F238E27FC236}">
                <a16:creationId xmlns:a16="http://schemas.microsoft.com/office/drawing/2014/main" id="{A2477AE4-B5E1-97F9-51AA-E918377FCF5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t="-12517" b="-35120"/>
          <a:stretch>
            <a:fillRect/>
          </a:stretch>
        </p:blipFill>
        <p:spPr>
          <a:xfrm>
            <a:off x="1348176" y="12697936"/>
            <a:ext cx="790089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217619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BB32BD-05A2-E66D-D83B-005ECF118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Projektübersicht und Aufgaben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B980437-559B-2643-9FEB-17CF4ECC05DB}"/>
              </a:ext>
            </a:extLst>
          </p:cNvPr>
          <p:cNvSpPr txBox="1"/>
          <p:nvPr/>
        </p:nvSpPr>
        <p:spPr>
          <a:xfrm>
            <a:off x="1255362" y="1968285"/>
            <a:ext cx="58026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Inhalt: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Entwicklung eines 2D Top-Down Shooter Spiels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Spieler wird von Gegnern angegriffen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Gegner erscheinen vom Bildschirmrand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Ziel: Gegner besiegen und Punkte sammeln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Zusammenarbeit über GitHub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38591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ED2B4D-191E-E63A-F1A1-A368E5AB6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Ressource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60AAAB-0AD4-5C1A-516F-0F2042C7FC8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4705350" y="1096053"/>
            <a:ext cx="1928010" cy="19516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0273EC85-21D0-612C-A832-455BD4D4D3D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17241" r="16302"/>
          <a:stretch>
            <a:fillRect/>
          </a:stretch>
        </p:blipFill>
        <p:spPr>
          <a:xfrm>
            <a:off x="4846074" y="1344841"/>
            <a:ext cx="1678406" cy="142061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5133D55-9644-4456-B96E-C70A4F1508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65" t="7529" r="2207" b="6707"/>
          <a:stretch>
            <a:fillRect/>
          </a:stretch>
        </p:blipFill>
        <p:spPr>
          <a:xfrm>
            <a:off x="4705350" y="4786103"/>
            <a:ext cx="3095625" cy="1476375"/>
          </a:xfrm>
          <a:prstGeom prst="rect">
            <a:avLst/>
          </a:prstGeom>
          <a:ln>
            <a:noFill/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D20714-CB0A-AF40-01AE-ED23ECB4D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18" y="1713006"/>
            <a:ext cx="2525533" cy="1420613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5DE016C-9B93-62A6-C8E7-4014E0361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732" y="4532377"/>
            <a:ext cx="2986306" cy="158846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0A9AE06-399D-B2B4-E6D5-D97C100528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637" y="3867256"/>
            <a:ext cx="3095625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339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E40B3A-C775-BCE5-E83E-E6D53313C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Risikoanalyse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D1E0611-BD29-1D96-3A30-2C2EDA809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9" y="4267200"/>
            <a:ext cx="2105025" cy="210502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A4AFF0A-452D-3788-AB0D-F9454EF04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1" y="1019175"/>
            <a:ext cx="2495549" cy="2495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460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CDEFB4-EEAB-35BC-C6AA-B3DB78BA3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CH" dirty="0"/>
              <a:t>Spielkonzept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D7C6C5-8050-D9F7-AF67-02FA0CBD5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8806" y="2966122"/>
            <a:ext cx="5594889" cy="352675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b="1" dirty="0">
                <a:solidFill>
                  <a:srgbClr val="FF0000"/>
                </a:solidFill>
              </a:rPr>
              <a:t>Notiz und Bilder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Spieler befindet sich in der Mitte</a:t>
            </a:r>
          </a:p>
          <a:p>
            <a:r>
              <a:rPr lang="de-DE" dirty="0">
                <a:solidFill>
                  <a:srgbClr val="FF0000"/>
                </a:solidFill>
              </a:rPr>
              <a:t>Gegner greifen von </a:t>
            </a:r>
            <a:r>
              <a:rPr lang="de-DE" dirty="0" err="1">
                <a:solidFill>
                  <a:srgbClr val="FF0000"/>
                </a:solidFill>
              </a:rPr>
              <a:t>aussen</a:t>
            </a:r>
            <a:r>
              <a:rPr lang="de-DE" dirty="0">
                <a:solidFill>
                  <a:srgbClr val="FF0000"/>
                </a:solidFill>
              </a:rPr>
              <a:t> an</a:t>
            </a:r>
          </a:p>
          <a:p>
            <a:r>
              <a:rPr lang="de-DE" dirty="0">
                <a:solidFill>
                  <a:srgbClr val="FF0000"/>
                </a:solidFill>
              </a:rPr>
              <a:t>Hindernisse blockieren Bewegung</a:t>
            </a:r>
          </a:p>
          <a:p>
            <a:r>
              <a:rPr lang="de-DE" dirty="0">
                <a:solidFill>
                  <a:srgbClr val="FF0000"/>
                </a:solidFill>
              </a:rPr>
              <a:t>Leben (Herzen) oben links</a:t>
            </a:r>
          </a:p>
          <a:p>
            <a:r>
              <a:rPr lang="de-DE" dirty="0">
                <a:solidFill>
                  <a:srgbClr val="FF0000"/>
                </a:solidFill>
              </a:rPr>
              <a:t>Score zeigt Punkte</a:t>
            </a:r>
          </a:p>
          <a:p>
            <a:r>
              <a:rPr lang="de-DE" dirty="0">
                <a:solidFill>
                  <a:srgbClr val="FF0000"/>
                </a:solidFill>
              </a:rPr>
              <a:t>Munition rechts</a:t>
            </a:r>
          </a:p>
          <a:p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F259A48-34D6-4B88-A1DB-6452036FD4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24" y="2001855"/>
            <a:ext cx="4621139" cy="337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42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3EDD1D-FCE0-7918-5FA7-017C6C34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Anforderungen (</a:t>
            </a:r>
            <a:r>
              <a:rPr lang="de-CH"/>
              <a:t>Funktional</a:t>
            </a:r>
            <a:r>
              <a:rPr lang="de-CH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357B29-EFB4-B8D0-18ED-4CEF52EC7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20580" cy="415672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CH" sz="3200" dirty="0">
                <a:ea typeface="+mn-lt"/>
                <a:cs typeface="+mn-lt"/>
              </a:rPr>
              <a:t>🎮 Spielstart &amp; Menü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🕹️</a:t>
            </a:r>
            <a:r>
              <a:rPr lang="de-CH" sz="3200" dirty="0">
                <a:ea typeface="+mn-lt"/>
                <a:cs typeface="+mn-lt"/>
              </a:rPr>
              <a:t> Bewegung (WASD)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🎯 Schiessen &amp; Zielen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❤️</a:t>
            </a:r>
            <a:r>
              <a:rPr lang="de-CH" sz="3200" dirty="0">
                <a:ea typeface="+mn-lt"/>
                <a:cs typeface="+mn-lt"/>
              </a:rPr>
              <a:t> Health-System</a:t>
            </a:r>
            <a:endParaRPr lang="de-CH" dirty="0"/>
          </a:p>
          <a:p>
            <a:r>
              <a:rPr lang="de-CH" sz="3200" dirty="0">
                <a:latin typeface="Calibri"/>
                <a:ea typeface="Calibri"/>
                <a:cs typeface="Calibri"/>
              </a:rPr>
              <a:t>⭐ Score-System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📈 Levelsystem (50 / 100 Punkte)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🏁 Spielende</a:t>
            </a:r>
            <a:endParaRPr lang="de-CH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64686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9E363-59CB-B398-EBE1-D45F9B5B5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Anforderungen (Nicht-Funktional)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F071DF-8774-8C96-0C7A-4A6DA4110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sz="3200" dirty="0">
                <a:ea typeface="+mn-lt"/>
                <a:cs typeface="+mn-lt"/>
              </a:rPr>
              <a:t>⚡ Performance (~60 FPS)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👌</a:t>
            </a:r>
            <a:r>
              <a:rPr lang="de-CH" sz="3200" dirty="0">
                <a:ea typeface="+mn-lt"/>
                <a:cs typeface="+mn-lt"/>
              </a:rPr>
              <a:t> Benutzerfreundlichkeit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💻 Windows-Kompatibilität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🛡️</a:t>
            </a:r>
            <a:r>
              <a:rPr lang="de-CH" sz="3200" dirty="0">
                <a:ea typeface="+mn-lt"/>
                <a:cs typeface="+mn-lt"/>
              </a:rPr>
              <a:t> Stabilität (keine Abstürze)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🔒 Sicherheit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🧩 Wartbarkeit (Code-Struktur)</a:t>
            </a:r>
            <a:endParaRPr lang="de-CH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405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683C8-D1BC-A01E-3B69-CB8E52264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Arbeitsprozess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4DEF38C-EC1B-B0D2-7207-41E65EF2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10597"/>
            <a:ext cx="4179373" cy="247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856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6DC47-6023-A1F1-A2E2-335662FF4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Tests / Qualität</a:t>
            </a:r>
          </a:p>
        </p:txBody>
      </p:sp>
      <p:pic>
        <p:nvPicPr>
          <p:cNvPr id="7" name="Inhaltsplatzhalter 6" descr="Ein Bild, das Text, Screenshot, Multimedia-Software, Software enthält.&#10;&#10;KI-generierte Inhalte können fehlerhaft sein.">
            <a:extLst>
              <a:ext uri="{FF2B5EF4-FFF2-40B4-BE49-F238E27FC236}">
                <a16:creationId xmlns:a16="http://schemas.microsoft.com/office/drawing/2014/main" id="{E0F7B798-F816-A970-5E71-EB5DB75ADE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62040" y="635556"/>
            <a:ext cx="1695618" cy="559566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15BB306-6F6E-B8CB-088A-DC0C5474129A}"/>
              </a:ext>
            </a:extLst>
          </p:cNvPr>
          <p:cNvSpPr txBox="1"/>
          <p:nvPr/>
        </p:nvSpPr>
        <p:spPr>
          <a:xfrm>
            <a:off x="849086" y="1719943"/>
            <a:ext cx="8120742" cy="25545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🧪 Testfälle T-001 bis T-006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✔ Funktionen vollständig getestet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📊 Score &amp; Level validiert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💀 Game Over geprüft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✅ Ergebnis: System funktioniert korrekt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1186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53BFB-E514-E163-F22C-F7393BFB2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Tests / Qualität</a:t>
            </a:r>
          </a:p>
        </p:txBody>
      </p:sp>
    </p:spTree>
    <p:extLst>
      <p:ext uri="{BB962C8B-B14F-4D97-AF65-F5344CB8AC3E}">
        <p14:creationId xmlns:p14="http://schemas.microsoft.com/office/powerpoint/2010/main" val="3504223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602378-A63C-1DBF-2FE7-DC829BE3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Herausforderungen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0D3B30-F19C-B8FB-0D81-5AA02BEEF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74956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0349FA-CB35-9A54-EA61-75728D6E5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E89A13-7FD8-0AB4-FD42-107AD1713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99520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4BC2B42-B574-4703-8412-509D74406673}">
  <we:reference id="WA200005566" version="3.0.0.2" store="Omex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</Words>
  <Application>Microsoft Office PowerPoint</Application>
  <PresentationFormat>Breitbild</PresentationFormat>
  <Paragraphs>68</Paragraphs>
  <Slides>14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Castellar</vt:lpstr>
      <vt:lpstr>Office</vt:lpstr>
      <vt:lpstr>Top Down Shooter</vt:lpstr>
      <vt:lpstr>PowerPoint-Präsentation</vt:lpstr>
      <vt:lpstr>Zuständigkeiten</vt:lpstr>
      <vt:lpstr>Projektübersicht und Aufgaben</vt:lpstr>
      <vt:lpstr>Ressource</vt:lpstr>
      <vt:lpstr>Risikoanalyse</vt:lpstr>
      <vt:lpstr>Spielkonzept</vt:lpstr>
      <vt:lpstr>Anforderungen (Funktional)</vt:lpstr>
      <vt:lpstr>Anforderungen (Nicht-Funktional)</vt:lpstr>
      <vt:lpstr>Arbeitsprozess</vt:lpstr>
      <vt:lpstr>Tests / Qualität</vt:lpstr>
      <vt:lpstr>Tests / Qualität</vt:lpstr>
      <vt:lpstr>Herausforderungen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Phengrasamy</dc:creator>
  <cp:lastModifiedBy>Benjamin Phengrasamy</cp:lastModifiedBy>
  <cp:revision>10</cp:revision>
  <dcterms:created xsi:type="dcterms:W3CDTF">2026-03-18T16:07:12Z</dcterms:created>
  <dcterms:modified xsi:type="dcterms:W3CDTF">2026-03-21T09:07:56Z</dcterms:modified>
</cp:coreProperties>
</file>